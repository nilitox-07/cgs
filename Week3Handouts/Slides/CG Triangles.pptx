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4"/>
  </p:notesMasterIdLst>
  <p:sldIdLst>
    <p:sldId id="256" r:id="rId2"/>
    <p:sldId id="281" r:id="rId3"/>
    <p:sldId id="282" r:id="rId4"/>
    <p:sldId id="289" r:id="rId5"/>
    <p:sldId id="290" r:id="rId6"/>
    <p:sldId id="283" r:id="rId7"/>
    <p:sldId id="291" r:id="rId8"/>
    <p:sldId id="292" r:id="rId9"/>
    <p:sldId id="284" r:id="rId10"/>
    <p:sldId id="293" r:id="rId11"/>
    <p:sldId id="286" r:id="rId12"/>
    <p:sldId id="288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FF00"/>
    <a:srgbClr val="66FFFF"/>
    <a:srgbClr val="CF01A8"/>
    <a:srgbClr val="0000FF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7" autoAdjust="0"/>
    <p:restoredTop sz="94843" autoAdjust="0"/>
  </p:normalViewPr>
  <p:slideViewPr>
    <p:cSldViewPr snapToGrid="0">
      <p:cViewPr varScale="1">
        <p:scale>
          <a:sx n="110" d="100"/>
          <a:sy n="110" d="100"/>
        </p:scale>
        <p:origin x="664" y="1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6E3E05-44D7-461A-9AE4-38441C06FC10}" type="datetimeFigureOut">
              <a:rPr lang="en-US" smtClean="0"/>
              <a:t>1/7/24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DEF7D2-82A2-4FF5-A771-58557537BB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560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EF7D2-82A2-4FF5-A771-58557537BB5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7928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DEF7D2-82A2-4FF5-A771-58557537BB5D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3368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1/7/24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Computer Graphics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Triangles</a:t>
            </a:r>
          </a:p>
        </p:txBody>
      </p:sp>
    </p:spTree>
    <p:extLst>
      <p:ext uri="{BB962C8B-B14F-4D97-AF65-F5344CB8AC3E}">
        <p14:creationId xmlns:p14="http://schemas.microsoft.com/office/powerpoint/2010/main" val="14546593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1" name="Straight Connector 30"/>
          <p:cNvCxnSpPr/>
          <p:nvPr/>
        </p:nvCxnSpPr>
        <p:spPr>
          <a:xfrm flipH="1" flipV="1">
            <a:off x="2838759" y="4833258"/>
            <a:ext cx="2664232" cy="670559"/>
          </a:xfrm>
          <a:prstGeom prst="line">
            <a:avLst/>
          </a:prstGeom>
          <a:ln w="38100">
            <a:gradFill>
              <a:gsLst>
                <a:gs pos="0">
                  <a:srgbClr val="FF0000"/>
                </a:gs>
                <a:gs pos="100000">
                  <a:srgbClr val="0000FF"/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H="1">
            <a:off x="2838759" y="3352801"/>
            <a:ext cx="835175" cy="1480457"/>
          </a:xfrm>
          <a:prstGeom prst="line">
            <a:avLst/>
          </a:prstGeom>
          <a:ln w="38100">
            <a:gradFill>
              <a:gsLst>
                <a:gs pos="0">
                  <a:srgbClr val="00FF00"/>
                </a:gs>
                <a:gs pos="100000">
                  <a:srgbClr val="0000FF"/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Drawing Filled Triangles</a:t>
            </a:r>
          </a:p>
        </p:txBody>
      </p:sp>
      <p:cxnSp>
        <p:nvCxnSpPr>
          <p:cNvPr id="4" name="Straight Arrow Connector 3"/>
          <p:cNvCxnSpPr>
            <a:stCxn id="6" idx="0"/>
            <a:endCxn id="6" idx="2"/>
          </p:cNvCxnSpPr>
          <p:nvPr/>
        </p:nvCxnSpPr>
        <p:spPr>
          <a:xfrm>
            <a:off x="4096808" y="2670477"/>
            <a:ext cx="0" cy="3724795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Arrow Connector 4"/>
          <p:cNvCxnSpPr>
            <a:stCxn id="6" idx="1"/>
            <a:endCxn id="6" idx="3"/>
          </p:cNvCxnSpPr>
          <p:nvPr/>
        </p:nvCxnSpPr>
        <p:spPr>
          <a:xfrm>
            <a:off x="2213806" y="4532875"/>
            <a:ext cx="3766004" cy="0"/>
          </a:xfrm>
          <a:prstGeom prst="straightConnector1">
            <a:avLst/>
          </a:prstGeom>
          <a:ln w="762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2213806" y="2670477"/>
            <a:ext cx="3766004" cy="3724795"/>
          </a:xfrm>
          <a:prstGeom prst="rect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2552459" y="3188341"/>
            <a:ext cx="3066473" cy="2680227"/>
          </a:xfrm>
          <a:prstGeom prst="straightConnector1">
            <a:avLst/>
          </a:prstGeom>
          <a:ln w="76200"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3731054" y="2225962"/>
            <a:ext cx="731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+1Y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89527" y="6440939"/>
            <a:ext cx="731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-1Y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23350" y="4339468"/>
            <a:ext cx="731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-1X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90384" y="4345560"/>
            <a:ext cx="731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+1X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12601" y="5900041"/>
            <a:ext cx="731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-1Z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99707" y="2742564"/>
            <a:ext cx="7315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+1Z</a:t>
            </a:r>
          </a:p>
        </p:txBody>
      </p:sp>
      <p:pic>
        <p:nvPicPr>
          <p:cNvPr id="14" name="Content Placeholder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r="19752" b="1539"/>
          <a:stretch/>
        </p:blipFill>
        <p:spPr>
          <a:xfrm>
            <a:off x="7385993" y="2670477"/>
            <a:ext cx="3749040" cy="374904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27" name="Straight Connector 26"/>
          <p:cNvCxnSpPr/>
          <p:nvPr/>
        </p:nvCxnSpPr>
        <p:spPr>
          <a:xfrm flipH="1" flipV="1">
            <a:off x="3673935" y="3352801"/>
            <a:ext cx="1829056" cy="2151016"/>
          </a:xfrm>
          <a:prstGeom prst="line">
            <a:avLst/>
          </a:prstGeom>
          <a:ln w="38100">
            <a:gradFill>
              <a:gsLst>
                <a:gs pos="0">
                  <a:srgbClr val="FF0000"/>
                </a:gs>
                <a:gs pos="100000">
                  <a:srgbClr val="00FF00"/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3393360" y="3045024"/>
            <a:ext cx="5341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XYZ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4053" y="5569208"/>
            <a:ext cx="5341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XYZ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52459" y="4861745"/>
            <a:ext cx="53412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XYZ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44261" y="2983469"/>
            <a:ext cx="5277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421690" y="5473040"/>
            <a:ext cx="5277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2910" y="4901407"/>
            <a:ext cx="5577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XY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740004" y="3894712"/>
            <a:ext cx="811441" cy="132343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80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?</a:t>
            </a:r>
          </a:p>
        </p:txBody>
      </p:sp>
      <p:cxnSp>
        <p:nvCxnSpPr>
          <p:cNvPr id="48" name="Straight Connector 47"/>
          <p:cNvCxnSpPr/>
          <p:nvPr/>
        </p:nvCxnSpPr>
        <p:spPr>
          <a:xfrm flipH="1" flipV="1">
            <a:off x="8021313" y="4833258"/>
            <a:ext cx="2664232" cy="670559"/>
          </a:xfrm>
          <a:prstGeom prst="line">
            <a:avLst/>
          </a:prstGeom>
          <a:ln w="38100">
            <a:gradFill>
              <a:gsLst>
                <a:gs pos="0">
                  <a:srgbClr val="FF0000"/>
                </a:gs>
                <a:gs pos="100000">
                  <a:srgbClr val="0000FF"/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H="1">
            <a:off x="8021313" y="3352801"/>
            <a:ext cx="835175" cy="1480457"/>
          </a:xfrm>
          <a:prstGeom prst="line">
            <a:avLst/>
          </a:prstGeom>
          <a:ln w="38100">
            <a:gradFill>
              <a:gsLst>
                <a:gs pos="0">
                  <a:srgbClr val="00FF00"/>
                </a:gs>
                <a:gs pos="100000">
                  <a:srgbClr val="0000FF"/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/>
          <p:nvPr/>
        </p:nvCxnSpPr>
        <p:spPr>
          <a:xfrm flipH="1" flipV="1">
            <a:off x="8856489" y="3352801"/>
            <a:ext cx="1829056" cy="2151016"/>
          </a:xfrm>
          <a:prstGeom prst="line">
            <a:avLst/>
          </a:prstGeom>
          <a:ln w="38100">
            <a:gradFill>
              <a:gsLst>
                <a:gs pos="0">
                  <a:srgbClr val="FF0000"/>
                </a:gs>
                <a:gs pos="100000">
                  <a:srgbClr val="00FF00"/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 50"/>
          <p:cNvSpPr/>
          <p:nvPr/>
        </p:nvSpPr>
        <p:spPr>
          <a:xfrm>
            <a:off x="8795736" y="3608386"/>
            <a:ext cx="110837" cy="110837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9031262" y="3729101"/>
            <a:ext cx="110837" cy="110837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8795736" y="3843269"/>
            <a:ext cx="110837" cy="110837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8209227" y="4661973"/>
            <a:ext cx="110837" cy="1108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8329185" y="4431178"/>
            <a:ext cx="110837" cy="1108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8446803" y="4782046"/>
            <a:ext cx="110837" cy="110837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10199665" y="5248483"/>
            <a:ext cx="110837" cy="1108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10082925" y="5018216"/>
            <a:ext cx="110837" cy="1108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9852659" y="5132386"/>
            <a:ext cx="110837" cy="110837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5967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Triangle Rasterization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The last type of </a:t>
            </a:r>
            <a:r>
              <a:rPr lang="en-US" dirty="0">
                <a:solidFill>
                  <a:srgbClr val="C00000"/>
                </a:solidFill>
              </a:rPr>
              <a:t>primitive</a:t>
            </a:r>
            <a:r>
              <a:rPr lang="en-US" dirty="0"/>
              <a:t> we will learn to draw on the 2D raster grid is going to be the triangle.</a:t>
            </a:r>
          </a:p>
          <a:p>
            <a:pPr lvl="1"/>
            <a:r>
              <a:rPr lang="en-US" dirty="0"/>
              <a:t>However, we will define them in our new 3D coordinate system.</a:t>
            </a:r>
          </a:p>
          <a:p>
            <a:r>
              <a:rPr lang="en-US" dirty="0"/>
              <a:t>Triangles can be connected together to form every other type of polygon, which makes them very versatile.</a:t>
            </a:r>
          </a:p>
          <a:p>
            <a:pPr lvl="1"/>
            <a:r>
              <a:rPr lang="en-US" dirty="0"/>
              <a:t>Nearly everything you see in a modern game or simulation is comprised of triangles.</a:t>
            </a:r>
          </a:p>
          <a:p>
            <a:r>
              <a:rPr lang="en-US" dirty="0"/>
              <a:t>Your current knowledge would allow you to draw the “outline” of a triangle, but not much else.</a:t>
            </a:r>
          </a:p>
          <a:p>
            <a:r>
              <a:rPr lang="en-US" dirty="0"/>
              <a:t>In order to “fill” a triangle with pixels, we will need to dig deeper into the math behind triangles, and how the space within a triangle is defined.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5128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Arc 19"/>
          <p:cNvSpPr/>
          <p:nvPr/>
        </p:nvSpPr>
        <p:spPr>
          <a:xfrm>
            <a:off x="4321420" y="4456970"/>
            <a:ext cx="456321" cy="484366"/>
          </a:xfrm>
          <a:prstGeom prst="arc">
            <a:avLst>
              <a:gd name="adj1" fmla="val 17372361"/>
              <a:gd name="adj2" fmla="val 1521078"/>
            </a:avLst>
          </a:prstGeom>
          <a:ln w="38100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c 18"/>
          <p:cNvSpPr/>
          <p:nvPr/>
        </p:nvSpPr>
        <p:spPr>
          <a:xfrm rot="13737631">
            <a:off x="7342473" y="5116513"/>
            <a:ext cx="452714" cy="480538"/>
          </a:xfrm>
          <a:prstGeom prst="arc">
            <a:avLst>
              <a:gd name="adj1" fmla="val 17372361"/>
              <a:gd name="adj2" fmla="val 1521078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 rot="891993">
            <a:off x="4902924" y="4680021"/>
            <a:ext cx="195163" cy="19516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 rot="891993">
            <a:off x="5102494" y="4633374"/>
            <a:ext cx="305744" cy="30574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5068389" y="2833821"/>
            <a:ext cx="475197" cy="2046515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Triangle Basics</a:t>
            </a:r>
          </a:p>
        </p:txBody>
      </p:sp>
      <p:grpSp>
        <p:nvGrpSpPr>
          <p:cNvPr id="13" name="Group 12"/>
          <p:cNvGrpSpPr/>
          <p:nvPr/>
        </p:nvGrpSpPr>
        <p:grpSpPr>
          <a:xfrm>
            <a:off x="4468216" y="2833821"/>
            <a:ext cx="3430460" cy="2769644"/>
            <a:chOff x="4773016" y="2760618"/>
            <a:chExt cx="2664232" cy="2151016"/>
          </a:xfrm>
        </p:grpSpPr>
        <p:cxnSp>
          <p:nvCxnSpPr>
            <p:cNvPr id="4" name="Straight Connector 3"/>
            <p:cNvCxnSpPr/>
            <p:nvPr/>
          </p:nvCxnSpPr>
          <p:spPr>
            <a:xfrm flipH="1" flipV="1">
              <a:off x="4773016" y="4241075"/>
              <a:ext cx="2664232" cy="670559"/>
            </a:xfrm>
            <a:prstGeom prst="line">
              <a:avLst/>
            </a:prstGeom>
            <a:ln w="38100">
              <a:gradFill>
                <a:gsLst>
                  <a:gs pos="0">
                    <a:srgbClr val="FF0000"/>
                  </a:gs>
                  <a:gs pos="100000">
                    <a:srgbClr val="0000FF"/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" name="Straight Connector 4"/>
            <p:cNvCxnSpPr/>
            <p:nvPr/>
          </p:nvCxnSpPr>
          <p:spPr>
            <a:xfrm flipH="1">
              <a:off x="4773016" y="2760618"/>
              <a:ext cx="835175" cy="1480457"/>
            </a:xfrm>
            <a:prstGeom prst="line">
              <a:avLst/>
            </a:prstGeom>
            <a:ln w="38100">
              <a:gradFill>
                <a:gsLst>
                  <a:gs pos="0">
                    <a:srgbClr val="00FF00"/>
                  </a:gs>
                  <a:gs pos="100000">
                    <a:srgbClr val="0000FF"/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/>
            <p:cNvCxnSpPr/>
            <p:nvPr/>
          </p:nvCxnSpPr>
          <p:spPr>
            <a:xfrm flipH="1" flipV="1">
              <a:off x="5608192" y="2760618"/>
              <a:ext cx="1829056" cy="2151016"/>
            </a:xfrm>
            <a:prstGeom prst="line">
              <a:avLst/>
            </a:prstGeom>
            <a:ln w="38100">
              <a:gradFill>
                <a:gsLst>
                  <a:gs pos="0">
                    <a:srgbClr val="FF0000"/>
                  </a:gs>
                  <a:gs pos="100000">
                    <a:srgbClr val="00FF00"/>
                  </a:gs>
                </a:gsLst>
                <a:lin ang="5400000" scaled="1"/>
              </a:gra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Arc 20"/>
          <p:cNvSpPr/>
          <p:nvPr/>
        </p:nvSpPr>
        <p:spPr>
          <a:xfrm rot="8089137">
            <a:off x="5122002" y="3376841"/>
            <a:ext cx="307764" cy="326679"/>
          </a:xfrm>
          <a:prstGeom prst="arc">
            <a:avLst>
              <a:gd name="adj1" fmla="val 17372361"/>
              <a:gd name="adj2" fmla="val 1521078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c 21"/>
          <p:cNvSpPr/>
          <p:nvPr/>
        </p:nvSpPr>
        <p:spPr>
          <a:xfrm rot="5738164">
            <a:off x="5303738" y="2806661"/>
            <a:ext cx="604559" cy="645049"/>
          </a:xfrm>
          <a:prstGeom prst="arc">
            <a:avLst>
              <a:gd name="adj1" fmla="val 17372361"/>
              <a:gd name="adj2" fmla="val 1521078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7917009" y="5526116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42082" y="4586191"/>
            <a:ext cx="3561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58280" y="2427504"/>
            <a:ext cx="37061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94363" y="2581240"/>
            <a:ext cx="1586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</a:t>
            </a:r>
            <a:r>
              <a:rPr lang="en-US" sz="2000" baseline="30000" dirty="0"/>
              <a:t>2</a:t>
            </a:r>
            <a:r>
              <a:rPr lang="en-US" sz="2000" dirty="0"/>
              <a:t> + b</a:t>
            </a:r>
            <a:r>
              <a:rPr lang="en-US" sz="2000" baseline="30000" dirty="0"/>
              <a:t>2</a:t>
            </a:r>
            <a:r>
              <a:rPr lang="en-US" sz="2000" dirty="0"/>
              <a:t> = c</a:t>
            </a:r>
            <a:r>
              <a:rPr lang="en-US" sz="2000" baseline="30000" dirty="0"/>
              <a:t>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34468" y="5126006"/>
            <a:ext cx="3417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2000" dirty="0"/>
              <a:t>α</a:t>
            </a:r>
            <a:endParaRPr lang="en-US" sz="2000" dirty="0"/>
          </a:p>
        </p:txBody>
      </p:sp>
      <p:sp>
        <p:nvSpPr>
          <p:cNvPr id="18" name="Arc 17"/>
          <p:cNvSpPr/>
          <p:nvPr/>
        </p:nvSpPr>
        <p:spPr>
          <a:xfrm rot="7208140">
            <a:off x="5200760" y="2503213"/>
            <a:ext cx="710440" cy="754103"/>
          </a:xfrm>
          <a:prstGeom prst="arc">
            <a:avLst>
              <a:gd name="adj1" fmla="val 17372361"/>
              <a:gd name="adj2" fmla="val 47050"/>
            </a:avLst>
          </a:prstGeom>
          <a:ln w="38100">
            <a:solidFill>
              <a:srgbClr val="00FF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4502573" y="4440586"/>
            <a:ext cx="3417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2000" dirty="0">
                <a:solidFill>
                  <a:srgbClr val="000000"/>
                </a:solidFill>
                <a:latin typeface="Arial" panose="020B0604020202020204" pitchFamily="34" charset="0"/>
              </a:rPr>
              <a:t>β</a:t>
            </a:r>
            <a:endParaRPr lang="el-GR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5445750" y="2855361"/>
            <a:ext cx="31290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sz="2000" dirty="0">
                <a:solidFill>
                  <a:srgbClr val="000000"/>
                </a:solidFill>
                <a:latin typeface="Arial" panose="020B0604020202020204" pitchFamily="34" charset="0"/>
              </a:rPr>
              <a:t>γ</a:t>
            </a:r>
            <a:endParaRPr lang="el-GR" i="0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8626918" y="3183605"/>
            <a:ext cx="20014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l-GR" sz="2000" dirty="0"/>
              <a:t>α</a:t>
            </a:r>
            <a:r>
              <a:rPr lang="en-US" sz="2000" dirty="0"/>
              <a:t> + </a:t>
            </a:r>
            <a:r>
              <a:rPr lang="el-GR" sz="2000" dirty="0">
                <a:solidFill>
                  <a:srgbClr val="000000"/>
                </a:solidFill>
                <a:latin typeface="Arial" panose="020B0604020202020204" pitchFamily="34" charset="0"/>
              </a:rPr>
              <a:t>β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+</a:t>
            </a:r>
            <a:r>
              <a:rPr lang="el-GR" sz="2000" dirty="0">
                <a:solidFill>
                  <a:srgbClr val="000000"/>
                </a:solidFill>
                <a:latin typeface="Arial" panose="020B0604020202020204" pitchFamily="34" charset="0"/>
              </a:rPr>
              <a:t> γ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= 180</a:t>
            </a:r>
            <a:r>
              <a:rPr lang="en-US" sz="2000" baseline="40000" dirty="0">
                <a:solidFill>
                  <a:srgbClr val="000000"/>
                </a:solidFill>
                <a:latin typeface="Arial" panose="020B0604020202020204" pitchFamily="34" charset="0"/>
              </a:rPr>
              <a:t>o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endParaRPr lang="el-GR" sz="2000" dirty="0">
              <a:solidFill>
                <a:srgbClr val="000000"/>
              </a:solidFill>
              <a:latin typeface="Arial" panose="020B0604020202020204" pitchFamily="34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 rot="17993018">
            <a:off x="4649721" y="3534020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 rot="3023434">
            <a:off x="6713760" y="3869561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b</a:t>
            </a:r>
          </a:p>
        </p:txBody>
      </p:sp>
      <p:sp>
        <p:nvSpPr>
          <p:cNvPr id="36" name="TextBox 35"/>
          <p:cNvSpPr txBox="1"/>
          <p:nvPr/>
        </p:nvSpPr>
        <p:spPr>
          <a:xfrm rot="11627519">
            <a:off x="5800217" y="5106260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</a:t>
            </a:r>
          </a:p>
        </p:txBody>
      </p:sp>
      <p:sp>
        <p:nvSpPr>
          <p:cNvPr id="37" name="TextBox 36"/>
          <p:cNvSpPr txBox="1"/>
          <p:nvPr/>
        </p:nvSpPr>
        <p:spPr>
          <a:xfrm rot="808758">
            <a:off x="5217237" y="3921885"/>
            <a:ext cx="327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34522" y="4377492"/>
            <a:ext cx="1586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area = ½ </a:t>
            </a:r>
            <a:r>
              <a:rPr lang="en-US" sz="2000" dirty="0" err="1"/>
              <a:t>hc</a:t>
            </a:r>
            <a:endParaRPr lang="en-US" sz="2000" baseline="30000" dirty="0"/>
          </a:p>
        </p:txBody>
      </p:sp>
      <p:sp>
        <p:nvSpPr>
          <p:cNvPr id="39" name="TextBox 38"/>
          <p:cNvSpPr txBox="1"/>
          <p:nvPr/>
        </p:nvSpPr>
        <p:spPr>
          <a:xfrm>
            <a:off x="8359678" y="3798991"/>
            <a:ext cx="2535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perimeter = a + b + c  </a:t>
            </a:r>
            <a:endParaRPr lang="en-US" sz="2000" baseline="30000" dirty="0"/>
          </a:p>
        </p:txBody>
      </p:sp>
      <p:sp>
        <p:nvSpPr>
          <p:cNvPr id="41" name="TextBox 40"/>
          <p:cNvSpPr txBox="1"/>
          <p:nvPr/>
        </p:nvSpPr>
        <p:spPr>
          <a:xfrm>
            <a:off x="1813033" y="2581240"/>
            <a:ext cx="1586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SOH</a:t>
            </a:r>
            <a:endParaRPr lang="en-US" sz="2000" baseline="30000" dirty="0"/>
          </a:p>
        </p:txBody>
      </p:sp>
      <p:sp>
        <p:nvSpPr>
          <p:cNvPr id="42" name="TextBox 41"/>
          <p:cNvSpPr txBox="1"/>
          <p:nvPr/>
        </p:nvSpPr>
        <p:spPr>
          <a:xfrm>
            <a:off x="1818735" y="3183605"/>
            <a:ext cx="1586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CAH</a:t>
            </a:r>
            <a:endParaRPr lang="en-US" sz="2000" baseline="30000" dirty="0"/>
          </a:p>
        </p:txBody>
      </p:sp>
      <p:sp>
        <p:nvSpPr>
          <p:cNvPr id="43" name="TextBox 42"/>
          <p:cNvSpPr txBox="1"/>
          <p:nvPr/>
        </p:nvSpPr>
        <p:spPr>
          <a:xfrm>
            <a:off x="1813033" y="3802880"/>
            <a:ext cx="15862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TOA</a:t>
            </a:r>
            <a:endParaRPr lang="en-US" sz="2000" baseline="30000" dirty="0"/>
          </a:p>
        </p:txBody>
      </p:sp>
    </p:spTree>
    <p:extLst>
      <p:ext uri="{BB962C8B-B14F-4D97-AF65-F5344CB8AC3E}">
        <p14:creationId xmlns:p14="http://schemas.microsoft.com/office/powerpoint/2010/main" val="1176302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786845" y="1193074"/>
            <a:ext cx="5721532" cy="4824549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5778136" y="2704011"/>
            <a:ext cx="5721532" cy="1530991"/>
          </a:xfrm>
          <a:prstGeom prst="line">
            <a:avLst/>
          </a:prstGeom>
          <a:ln w="19050">
            <a:solidFill>
              <a:srgbClr val="66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778136" y="1813359"/>
            <a:ext cx="5721532" cy="1530991"/>
          </a:xfrm>
          <a:prstGeom prst="line">
            <a:avLst/>
          </a:prstGeom>
          <a:ln w="19050">
            <a:solidFill>
              <a:srgbClr val="66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6863477" y="1193074"/>
            <a:ext cx="4636191" cy="1240571"/>
          </a:xfrm>
          <a:prstGeom prst="line">
            <a:avLst/>
          </a:prstGeom>
          <a:ln w="19050">
            <a:solidFill>
              <a:srgbClr val="66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10171611" y="1197641"/>
            <a:ext cx="1336766" cy="357697"/>
          </a:xfrm>
          <a:prstGeom prst="line">
            <a:avLst/>
          </a:prstGeom>
          <a:ln w="19050">
            <a:solidFill>
              <a:srgbClr val="66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778136" y="4454435"/>
            <a:ext cx="5730241" cy="1533321"/>
          </a:xfrm>
          <a:prstGeom prst="line">
            <a:avLst/>
          </a:prstGeom>
          <a:ln w="19050">
            <a:solidFill>
              <a:srgbClr val="66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5782490" y="5338355"/>
            <a:ext cx="2538522" cy="679268"/>
          </a:xfrm>
          <a:prstGeom prst="line">
            <a:avLst/>
          </a:prstGeom>
          <a:ln w="19050">
            <a:solidFill>
              <a:srgbClr val="66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/>
          <p:nvPr/>
        </p:nvCxnSpPr>
        <p:spPr>
          <a:xfrm flipV="1">
            <a:off x="5778136" y="3344350"/>
            <a:ext cx="5721532" cy="2407103"/>
          </a:xfrm>
          <a:prstGeom prst="line">
            <a:avLst/>
          </a:prstGeom>
          <a:ln w="19050">
            <a:solidFill>
              <a:srgbClr val="66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/>
          <p:cNvCxnSpPr/>
          <p:nvPr/>
        </p:nvCxnSpPr>
        <p:spPr>
          <a:xfrm flipV="1">
            <a:off x="8264117" y="4628764"/>
            <a:ext cx="3226842" cy="1357562"/>
          </a:xfrm>
          <a:prstGeom prst="line">
            <a:avLst/>
          </a:prstGeom>
          <a:ln w="19050">
            <a:solidFill>
              <a:srgbClr val="66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/>
          <p:nvPr/>
        </p:nvCxnSpPr>
        <p:spPr>
          <a:xfrm flipV="1">
            <a:off x="5786845" y="1245874"/>
            <a:ext cx="4576354" cy="1925315"/>
          </a:xfrm>
          <a:prstGeom prst="line">
            <a:avLst/>
          </a:prstGeom>
          <a:ln w="19050">
            <a:solidFill>
              <a:srgbClr val="66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flipV="1">
            <a:off x="5778136" y="1191644"/>
            <a:ext cx="1722473" cy="724660"/>
          </a:xfrm>
          <a:prstGeom prst="line">
            <a:avLst/>
          </a:prstGeom>
          <a:ln w="19050">
            <a:solidFill>
              <a:srgbClr val="66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5786845" y="3572232"/>
            <a:ext cx="5721532" cy="15309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 flipV="1">
            <a:off x="5778136" y="2047332"/>
            <a:ext cx="5721532" cy="2407103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191644"/>
            <a:ext cx="3549121" cy="1371600"/>
          </a:xfrm>
        </p:spPr>
        <p:txBody>
          <a:bodyPr/>
          <a:lstStyle/>
          <a:p>
            <a:r>
              <a:rPr lang="en-US" dirty="0"/>
              <a:t>Barycentric Coordinates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657808"/>
            <a:ext cx="3549121" cy="332851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Defines a Non-Orthogonal coordinate system describing the space of a triangle.</a:t>
            </a:r>
          </a:p>
          <a:p>
            <a:r>
              <a:rPr lang="en-US" dirty="0"/>
              <a:t>Any position on this plane can be described with the following equation:</a:t>
            </a:r>
          </a:p>
          <a:p>
            <a:r>
              <a:rPr lang="en-US" dirty="0">
                <a:solidFill>
                  <a:srgbClr val="CF01A8"/>
                </a:solidFill>
              </a:rPr>
              <a:t>P</a:t>
            </a:r>
            <a:r>
              <a:rPr lang="en-US" dirty="0"/>
              <a:t> = </a:t>
            </a:r>
            <a:r>
              <a:rPr lang="el-GR" dirty="0">
                <a:solidFill>
                  <a:srgbClr val="000000"/>
                </a:solidFill>
                <a:latin typeface="Arial" panose="020B0604020202020204" pitchFamily="34" charset="0"/>
              </a:rPr>
              <a:t>β</a:t>
            </a:r>
            <a:r>
              <a:rPr lang="en-US" dirty="0"/>
              <a:t>( </a:t>
            </a:r>
            <a:r>
              <a:rPr lang="en-US" dirty="0">
                <a:solidFill>
                  <a:srgbClr val="0000FF"/>
                </a:solidFill>
              </a:rPr>
              <a:t>B</a:t>
            </a:r>
            <a:r>
              <a:rPr lang="en-US" dirty="0"/>
              <a:t> –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) + </a:t>
            </a:r>
            <a:r>
              <a:rPr lang="el-GR" dirty="0">
                <a:solidFill>
                  <a:srgbClr val="000000"/>
                </a:solidFill>
                <a:latin typeface="Arial" panose="020B0604020202020204" pitchFamily="34" charset="0"/>
              </a:rPr>
              <a:t>γ</a:t>
            </a:r>
            <a:r>
              <a:rPr lang="en-US" dirty="0"/>
              <a:t>( </a:t>
            </a:r>
            <a:r>
              <a:rPr lang="en-US" dirty="0">
                <a:solidFill>
                  <a:srgbClr val="00B050"/>
                </a:solidFill>
              </a:rPr>
              <a:t>C</a:t>
            </a:r>
            <a:r>
              <a:rPr lang="en-US" dirty="0"/>
              <a:t> –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) + 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</a:t>
            </a:r>
          </a:p>
          <a:p>
            <a:r>
              <a:rPr lang="en-US" dirty="0"/>
              <a:t>Terms Reordered:</a:t>
            </a:r>
          </a:p>
          <a:p>
            <a:r>
              <a:rPr lang="en-US" dirty="0">
                <a:solidFill>
                  <a:srgbClr val="CF01A8"/>
                </a:solidFill>
              </a:rPr>
              <a:t>P</a:t>
            </a:r>
            <a:r>
              <a:rPr lang="en-US" dirty="0"/>
              <a:t> = ( 1 - </a:t>
            </a:r>
            <a:r>
              <a:rPr lang="el-GR" dirty="0">
                <a:solidFill>
                  <a:srgbClr val="000000"/>
                </a:solidFill>
                <a:latin typeface="Arial" panose="020B0604020202020204" pitchFamily="34" charset="0"/>
              </a:rPr>
              <a:t>β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- </a:t>
            </a:r>
            <a:r>
              <a:rPr lang="el-GR" dirty="0">
                <a:solidFill>
                  <a:srgbClr val="000000"/>
                </a:solidFill>
                <a:latin typeface="Arial" panose="020B0604020202020204" pitchFamily="34" charset="0"/>
              </a:rPr>
              <a:t>γ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dirty="0"/>
              <a:t>)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+ </a:t>
            </a:r>
            <a:r>
              <a:rPr lang="el-GR" dirty="0">
                <a:solidFill>
                  <a:srgbClr val="000000"/>
                </a:solidFill>
                <a:latin typeface="Arial" panose="020B0604020202020204" pitchFamily="34" charset="0"/>
              </a:rPr>
              <a:t>β</a:t>
            </a:r>
            <a:r>
              <a:rPr lang="en-US" dirty="0"/>
              <a:t>( </a:t>
            </a:r>
            <a:r>
              <a:rPr lang="en-US" dirty="0">
                <a:solidFill>
                  <a:srgbClr val="0000FF"/>
                </a:solidFill>
              </a:rPr>
              <a:t>B</a:t>
            </a:r>
            <a:r>
              <a:rPr lang="en-US" dirty="0"/>
              <a:t> ) + </a:t>
            </a:r>
            <a:r>
              <a:rPr lang="el-GR" dirty="0">
                <a:solidFill>
                  <a:srgbClr val="000000"/>
                </a:solidFill>
                <a:latin typeface="Arial" panose="020B0604020202020204" pitchFamily="34" charset="0"/>
              </a:rPr>
              <a:t>γ</a:t>
            </a:r>
            <a:r>
              <a:rPr lang="en-US" dirty="0"/>
              <a:t>( </a:t>
            </a:r>
            <a:r>
              <a:rPr lang="en-US" dirty="0">
                <a:solidFill>
                  <a:srgbClr val="00B050"/>
                </a:solidFill>
              </a:rPr>
              <a:t>C</a:t>
            </a:r>
            <a:r>
              <a:rPr lang="en-US" dirty="0"/>
              <a:t> )</a:t>
            </a:r>
          </a:p>
          <a:p>
            <a:r>
              <a:rPr lang="el-GR" dirty="0"/>
              <a:t>α</a:t>
            </a:r>
            <a:r>
              <a:rPr lang="en-US" dirty="0"/>
              <a:t> = ( 1 - </a:t>
            </a:r>
            <a:r>
              <a:rPr lang="el-GR" dirty="0">
                <a:solidFill>
                  <a:srgbClr val="000000"/>
                </a:solidFill>
                <a:latin typeface="Arial" panose="020B0604020202020204" pitchFamily="34" charset="0"/>
              </a:rPr>
              <a:t>β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- </a:t>
            </a:r>
            <a:r>
              <a:rPr lang="el-GR" dirty="0">
                <a:solidFill>
                  <a:srgbClr val="000000"/>
                </a:solidFill>
                <a:latin typeface="Arial" panose="020B0604020202020204" pitchFamily="34" charset="0"/>
              </a:rPr>
              <a:t>γ</a:t>
            </a:r>
            <a:r>
              <a:rPr lang="en-US" dirty="0"/>
              <a:t> )</a:t>
            </a:r>
          </a:p>
          <a:p>
            <a:r>
              <a:rPr lang="en-US" dirty="0">
                <a:solidFill>
                  <a:srgbClr val="CF01A8"/>
                </a:solidFill>
              </a:rPr>
              <a:t>P</a:t>
            </a:r>
            <a:r>
              <a:rPr lang="en-US" dirty="0"/>
              <a:t> ( </a:t>
            </a:r>
            <a:r>
              <a:rPr lang="el-GR" dirty="0"/>
              <a:t>α</a:t>
            </a:r>
            <a:r>
              <a:rPr lang="en-US" dirty="0"/>
              <a:t>, </a:t>
            </a:r>
            <a:r>
              <a:rPr lang="el-GR" dirty="0">
                <a:solidFill>
                  <a:srgbClr val="000000"/>
                </a:solidFill>
                <a:latin typeface="Arial" panose="020B0604020202020204" pitchFamily="34" charset="0"/>
              </a:rPr>
              <a:t>β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l-GR" dirty="0">
                <a:solidFill>
                  <a:srgbClr val="000000"/>
                </a:solidFill>
                <a:latin typeface="Arial" panose="020B0604020202020204" pitchFamily="34" charset="0"/>
              </a:rPr>
              <a:t>γ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)</a:t>
            </a:r>
            <a:r>
              <a:rPr lang="en-US" dirty="0"/>
              <a:t> = </a:t>
            </a:r>
            <a:r>
              <a:rPr lang="el-GR" dirty="0"/>
              <a:t>α</a:t>
            </a:r>
            <a:r>
              <a:rPr lang="en-US" dirty="0">
                <a:solidFill>
                  <a:srgbClr val="FF0000"/>
                </a:solidFill>
              </a:rPr>
              <a:t>A</a:t>
            </a:r>
            <a:r>
              <a:rPr lang="en-US" dirty="0"/>
              <a:t> + </a:t>
            </a:r>
            <a:r>
              <a:rPr lang="el-GR" dirty="0">
                <a:solidFill>
                  <a:srgbClr val="000000"/>
                </a:solidFill>
                <a:latin typeface="Arial" panose="020B0604020202020204" pitchFamily="34" charset="0"/>
              </a:rPr>
              <a:t>β</a:t>
            </a:r>
            <a:r>
              <a:rPr lang="en-US" dirty="0">
                <a:solidFill>
                  <a:srgbClr val="0000FF"/>
                </a:solidFill>
                <a:latin typeface="Arial" panose="020B0604020202020204" pitchFamily="34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+ </a:t>
            </a:r>
            <a:r>
              <a:rPr lang="el-GR" dirty="0">
                <a:solidFill>
                  <a:srgbClr val="000000"/>
                </a:solidFill>
                <a:latin typeface="Arial" panose="020B0604020202020204" pitchFamily="34" charset="0"/>
              </a:rPr>
              <a:t>γ</a:t>
            </a:r>
            <a:r>
              <a:rPr lang="en-US" dirty="0">
                <a:solidFill>
                  <a:srgbClr val="00B050"/>
                </a:solidFill>
                <a:latin typeface="Arial" panose="020B0604020202020204" pitchFamily="34" charset="0"/>
              </a:rPr>
              <a:t>C</a:t>
            </a:r>
            <a:endParaRPr lang="en-US" dirty="0">
              <a:solidFill>
                <a:srgbClr val="00B050"/>
              </a:solidFill>
            </a:endParaRPr>
          </a:p>
        </p:txBody>
      </p:sp>
      <p:cxnSp>
        <p:nvCxnSpPr>
          <p:cNvPr id="5" name="Straight Connector 4"/>
          <p:cNvCxnSpPr/>
          <p:nvPr/>
        </p:nvCxnSpPr>
        <p:spPr>
          <a:xfrm flipV="1">
            <a:off x="7114902" y="3387634"/>
            <a:ext cx="1227909" cy="522516"/>
          </a:xfrm>
          <a:prstGeom prst="line">
            <a:avLst/>
          </a:prstGeom>
          <a:ln w="57150">
            <a:gradFill>
              <a:gsLst>
                <a:gs pos="0">
                  <a:srgbClr val="FF0000"/>
                </a:gs>
                <a:gs pos="100000">
                  <a:srgbClr val="00FF00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7125788" y="3914505"/>
            <a:ext cx="1817915" cy="477798"/>
          </a:xfrm>
          <a:prstGeom prst="line">
            <a:avLst/>
          </a:prstGeom>
          <a:ln w="57150">
            <a:gradFill>
              <a:gsLst>
                <a:gs pos="0">
                  <a:srgbClr val="FF0000"/>
                </a:gs>
                <a:gs pos="100000">
                  <a:srgbClr val="0000FF"/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 flipV="1">
            <a:off x="8351520" y="3383280"/>
            <a:ext cx="600892" cy="993503"/>
          </a:xfrm>
          <a:prstGeom prst="line">
            <a:avLst/>
          </a:prstGeom>
          <a:ln w="6350">
            <a:gradFill>
              <a:gsLst>
                <a:gs pos="0">
                  <a:srgbClr val="0000FF"/>
                </a:gs>
                <a:gs pos="100000">
                  <a:srgbClr val="00FF00"/>
                </a:gs>
              </a:gsLst>
              <a:lin ang="5400000" scaled="1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899906" y="3882842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83135" y="4383544"/>
            <a:ext cx="338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00FF"/>
                </a:solidFill>
              </a:rPr>
              <a:t>B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73534" y="3001130"/>
            <a:ext cx="3513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50"/>
                </a:solidFill>
              </a:rPr>
              <a:t>C</a:t>
            </a:r>
          </a:p>
        </p:txBody>
      </p:sp>
      <p:sp>
        <p:nvSpPr>
          <p:cNvPr id="51" name="Rectangle 50"/>
          <p:cNvSpPr/>
          <p:nvPr/>
        </p:nvSpPr>
        <p:spPr>
          <a:xfrm rot="894926">
            <a:off x="9943251" y="4384024"/>
            <a:ext cx="4523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l-GR" dirty="0">
                <a:solidFill>
                  <a:srgbClr val="000000"/>
                </a:solidFill>
                <a:latin typeface="Arial" panose="020B0604020202020204" pitchFamily="34" charset="0"/>
              </a:rPr>
              <a:t>β</a:t>
            </a:r>
            <a:endParaRPr lang="en-US" dirty="0"/>
          </a:p>
        </p:txBody>
      </p:sp>
      <p:sp>
        <p:nvSpPr>
          <p:cNvPr id="52" name="Rectangle 51"/>
          <p:cNvSpPr/>
          <p:nvPr/>
        </p:nvSpPr>
        <p:spPr>
          <a:xfrm rot="894926">
            <a:off x="5761632" y="3261423"/>
            <a:ext cx="394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  <a:r>
              <a:rPr lang="el-GR" dirty="0">
                <a:solidFill>
                  <a:srgbClr val="000000"/>
                </a:solidFill>
                <a:latin typeface="Arial" panose="020B0604020202020204" pitchFamily="34" charset="0"/>
              </a:rPr>
              <a:t>β</a:t>
            </a:r>
            <a:endParaRPr lang="en-US" dirty="0"/>
          </a:p>
        </p:txBody>
      </p:sp>
      <p:sp>
        <p:nvSpPr>
          <p:cNvPr id="53" name="Rectangle 52"/>
          <p:cNvSpPr/>
          <p:nvPr/>
        </p:nvSpPr>
        <p:spPr>
          <a:xfrm rot="20234509">
            <a:off x="8842819" y="2687799"/>
            <a:ext cx="4347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+</a:t>
            </a:r>
            <a:r>
              <a:rPr lang="el-GR" dirty="0">
                <a:solidFill>
                  <a:srgbClr val="000000"/>
                </a:solidFill>
                <a:latin typeface="Arial" panose="020B0604020202020204" pitchFamily="34" charset="0"/>
              </a:rPr>
              <a:t>γ</a:t>
            </a:r>
            <a:endParaRPr lang="en-US" dirty="0"/>
          </a:p>
        </p:txBody>
      </p:sp>
      <p:sp>
        <p:nvSpPr>
          <p:cNvPr id="54" name="Rectangle 53"/>
          <p:cNvSpPr/>
          <p:nvPr/>
        </p:nvSpPr>
        <p:spPr>
          <a:xfrm rot="20234509">
            <a:off x="5736782" y="4015392"/>
            <a:ext cx="37702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-</a:t>
            </a:r>
            <a:r>
              <a:rPr lang="el-GR" dirty="0">
                <a:solidFill>
                  <a:srgbClr val="000000"/>
                </a:solidFill>
                <a:latin typeface="Arial" panose="020B0604020202020204" pitchFamily="34" charset="0"/>
              </a:rPr>
              <a:t>γ</a:t>
            </a:r>
            <a:endParaRPr lang="en-US" dirty="0"/>
          </a:p>
        </p:txBody>
      </p:sp>
      <p:sp>
        <p:nvSpPr>
          <p:cNvPr id="58" name="TextBox 57"/>
          <p:cNvSpPr txBox="1"/>
          <p:nvPr/>
        </p:nvSpPr>
        <p:spPr>
          <a:xfrm>
            <a:off x="9574885" y="3176513"/>
            <a:ext cx="21484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CF01A8"/>
                </a:solidFill>
              </a:rPr>
              <a:t>P</a:t>
            </a:r>
            <a:r>
              <a:rPr lang="en-US" dirty="0"/>
              <a:t> ( +0.4</a:t>
            </a:r>
            <a:r>
              <a:rPr lang="el-GR" dirty="0">
                <a:solidFill>
                  <a:srgbClr val="000000"/>
                </a:solidFill>
                <a:latin typeface="Arial" panose="020B0604020202020204" pitchFamily="34" charset="0"/>
              </a:rPr>
              <a:t>β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+1.3</a:t>
            </a:r>
            <a:r>
              <a:rPr lang="el-GR" dirty="0">
                <a:solidFill>
                  <a:srgbClr val="000000"/>
                </a:solidFill>
                <a:latin typeface="Arial" panose="020B0604020202020204" pitchFamily="34" charset="0"/>
              </a:rPr>
              <a:t>γ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)</a:t>
            </a:r>
            <a:endParaRPr lang="en-US" dirty="0"/>
          </a:p>
        </p:txBody>
      </p:sp>
      <p:cxnSp>
        <p:nvCxnSpPr>
          <p:cNvPr id="59" name="Straight Connector 58"/>
          <p:cNvCxnSpPr/>
          <p:nvPr/>
        </p:nvCxnSpPr>
        <p:spPr>
          <a:xfrm>
            <a:off x="8839200" y="3187337"/>
            <a:ext cx="635726" cy="174172"/>
          </a:xfrm>
          <a:prstGeom prst="line">
            <a:avLst/>
          </a:prstGeom>
          <a:ln w="28575">
            <a:solidFill>
              <a:srgbClr val="CF01A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/>
          <p:nvPr/>
        </p:nvCxnSpPr>
        <p:spPr>
          <a:xfrm flipV="1">
            <a:off x="7785463" y="3361509"/>
            <a:ext cx="1689463" cy="748937"/>
          </a:xfrm>
          <a:prstGeom prst="line">
            <a:avLst/>
          </a:prstGeom>
          <a:ln w="28575">
            <a:solidFill>
              <a:srgbClr val="CF01A8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5-Point Star 56"/>
          <p:cNvSpPr/>
          <p:nvPr/>
        </p:nvSpPr>
        <p:spPr>
          <a:xfrm>
            <a:off x="9370134" y="3265850"/>
            <a:ext cx="198409" cy="173458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1592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Barycentric Coordinates == 3 Gradient Ratios</a:t>
            </a:r>
          </a:p>
        </p:txBody>
      </p:sp>
      <p:cxnSp>
        <p:nvCxnSpPr>
          <p:cNvPr id="17" name="Straight Connector 16"/>
          <p:cNvCxnSpPr/>
          <p:nvPr/>
        </p:nvCxnSpPr>
        <p:spPr>
          <a:xfrm flipH="1">
            <a:off x="5164185" y="2438399"/>
            <a:ext cx="1066976" cy="1677490"/>
          </a:xfrm>
          <a:prstGeom prst="line">
            <a:avLst/>
          </a:prstGeom>
          <a:ln w="38100">
            <a:gradFill>
              <a:gsLst>
                <a:gs pos="0">
                  <a:srgbClr val="00FF00"/>
                </a:gs>
                <a:gs pos="100000">
                  <a:srgbClr val="0000FF"/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H="1" flipV="1">
            <a:off x="6231161" y="2438399"/>
            <a:ext cx="1049205" cy="1677491"/>
          </a:xfrm>
          <a:prstGeom prst="line">
            <a:avLst/>
          </a:prstGeom>
          <a:ln w="38100">
            <a:gradFill>
              <a:gsLst>
                <a:gs pos="0">
                  <a:srgbClr val="FF0000"/>
                </a:gs>
                <a:gs pos="100000">
                  <a:srgbClr val="00FF00"/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 flipH="1">
            <a:off x="5164185" y="4115889"/>
            <a:ext cx="2133952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FF0000"/>
                </a:gs>
                <a:gs pos="100000">
                  <a:srgbClr val="0000FF"/>
                </a:gs>
              </a:gsLst>
              <a:lin ang="0" scaled="1"/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H="1">
            <a:off x="8687858" y="3200399"/>
            <a:ext cx="1066976" cy="1677490"/>
          </a:xfrm>
          <a:prstGeom prst="line">
            <a:avLst/>
          </a:prstGeom>
          <a:ln w="38100">
            <a:gradFill>
              <a:gsLst>
                <a:gs pos="0">
                  <a:srgbClr val="00FF00"/>
                </a:gs>
                <a:gs pos="100000">
                  <a:srgbClr val="0000FF"/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 flipV="1">
            <a:off x="2725259" y="3200399"/>
            <a:ext cx="1049205" cy="1677491"/>
          </a:xfrm>
          <a:prstGeom prst="line">
            <a:avLst/>
          </a:prstGeom>
          <a:ln w="38100">
            <a:gradFill>
              <a:gsLst>
                <a:gs pos="0">
                  <a:srgbClr val="FF0000"/>
                </a:gs>
                <a:gs pos="100000">
                  <a:srgbClr val="00FF00"/>
                </a:gs>
              </a:gsLst>
              <a:lin ang="5400000" scaled="1"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/>
          <p:cNvCxnSpPr/>
          <p:nvPr/>
        </p:nvCxnSpPr>
        <p:spPr>
          <a:xfrm flipH="1">
            <a:off x="5164185" y="6555379"/>
            <a:ext cx="2133952" cy="0"/>
          </a:xfrm>
          <a:prstGeom prst="line">
            <a:avLst/>
          </a:prstGeom>
          <a:ln w="38100">
            <a:gradFill flip="none" rotWithShape="1">
              <a:gsLst>
                <a:gs pos="0">
                  <a:srgbClr val="FF0000"/>
                </a:gs>
                <a:gs pos="100000">
                  <a:srgbClr val="0000FF"/>
                </a:gs>
              </a:gsLst>
              <a:lin ang="0" scaled="1"/>
              <a:tileRect/>
            </a:gra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Oval 56"/>
          <p:cNvSpPr/>
          <p:nvPr/>
        </p:nvSpPr>
        <p:spPr>
          <a:xfrm>
            <a:off x="6176444" y="4813233"/>
            <a:ext cx="129310" cy="129310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/>
          <p:cNvCxnSpPr/>
          <p:nvPr/>
        </p:nvCxnSpPr>
        <p:spPr>
          <a:xfrm flipV="1">
            <a:off x="6231161" y="4942543"/>
            <a:ext cx="0" cy="1612838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Oval 61"/>
          <p:cNvSpPr/>
          <p:nvPr/>
        </p:nvSpPr>
        <p:spPr>
          <a:xfrm>
            <a:off x="10762299" y="4808615"/>
            <a:ext cx="129310" cy="12931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Arrow Connector 62"/>
          <p:cNvCxnSpPr/>
          <p:nvPr/>
        </p:nvCxnSpPr>
        <p:spPr>
          <a:xfrm>
            <a:off x="9221346" y="4039144"/>
            <a:ext cx="1527976" cy="801853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Oval 67"/>
          <p:cNvSpPr/>
          <p:nvPr/>
        </p:nvSpPr>
        <p:spPr>
          <a:xfrm>
            <a:off x="1607490" y="4808615"/>
            <a:ext cx="129310" cy="129310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9" name="Straight Arrow Connector 68"/>
          <p:cNvCxnSpPr/>
          <p:nvPr/>
        </p:nvCxnSpPr>
        <p:spPr>
          <a:xfrm flipH="1">
            <a:off x="1730277" y="4006762"/>
            <a:ext cx="1528470" cy="833093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/>
          <p:nvPr/>
        </p:nvSpPr>
        <p:spPr>
          <a:xfrm>
            <a:off x="5107363" y="4039144"/>
            <a:ext cx="129310" cy="129310"/>
          </a:xfrm>
          <a:prstGeom prst="ellipse">
            <a:avLst/>
          </a:prstGeom>
          <a:solidFill>
            <a:srgbClr val="0000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7222200" y="4039144"/>
            <a:ext cx="129310" cy="129310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/>
          <p:cNvSpPr/>
          <p:nvPr/>
        </p:nvSpPr>
        <p:spPr>
          <a:xfrm>
            <a:off x="6176444" y="2373743"/>
            <a:ext cx="129310" cy="129310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6" name="Straight Arrow Connector 75"/>
          <p:cNvCxnSpPr/>
          <p:nvPr/>
        </p:nvCxnSpPr>
        <p:spPr>
          <a:xfrm flipV="1">
            <a:off x="6233097" y="2503053"/>
            <a:ext cx="0" cy="1612838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5685347" y="3257217"/>
            <a:ext cx="1527976" cy="801853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flipH="1">
            <a:off x="5236673" y="3245904"/>
            <a:ext cx="1528470" cy="833093"/>
          </a:xfrm>
          <a:prstGeom prst="straightConnector1">
            <a:avLst/>
          </a:prstGeom>
          <a:ln w="28575">
            <a:solidFill>
              <a:schemeClr val="tx1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 rot="7129280">
            <a:off x="9832351" y="4074678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α</a:t>
            </a:r>
            <a:endParaRPr lang="en-US" dirty="0">
              <a:solidFill>
                <a:srgbClr val="66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0" name="Rectangle 79"/>
          <p:cNvSpPr/>
          <p:nvPr/>
        </p:nvSpPr>
        <p:spPr>
          <a:xfrm rot="14438135">
            <a:off x="2273597" y="4062907"/>
            <a:ext cx="3177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β</a:t>
            </a:r>
            <a:endParaRPr lang="en-US" dirty="0">
              <a:solidFill>
                <a:srgbClr val="FFFF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1" name="Rectangle 80"/>
          <p:cNvSpPr/>
          <p:nvPr/>
        </p:nvSpPr>
        <p:spPr>
          <a:xfrm>
            <a:off x="5941017" y="5564295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l-GR" dirty="0">
                <a:solidFill>
                  <a:srgbClr val="CF01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γ</a:t>
            </a:r>
            <a:endParaRPr lang="en-US" dirty="0">
              <a:solidFill>
                <a:srgbClr val="CF01A8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3" name="Oval 82"/>
          <p:cNvSpPr/>
          <p:nvPr/>
        </p:nvSpPr>
        <p:spPr>
          <a:xfrm>
            <a:off x="6170876" y="3464179"/>
            <a:ext cx="129310" cy="129310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5633817" y="1972818"/>
            <a:ext cx="11946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( 0</a:t>
            </a:r>
            <a:r>
              <a:rPr lang="el-GR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β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, 1</a:t>
            </a:r>
            <a:r>
              <a:rPr lang="el-GR" sz="1400" dirty="0">
                <a:solidFill>
                  <a:srgbClr val="CF01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γ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, 0</a:t>
            </a:r>
            <a:r>
              <a:rPr lang="el-GR" sz="14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α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n-US" sz="1400" dirty="0"/>
          </a:p>
        </p:txBody>
      </p:sp>
      <p:sp>
        <p:nvSpPr>
          <p:cNvPr id="26" name="Rectangle 25"/>
          <p:cNvSpPr/>
          <p:nvPr/>
        </p:nvSpPr>
        <p:spPr>
          <a:xfrm>
            <a:off x="6700793" y="4269419"/>
            <a:ext cx="11946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( 0</a:t>
            </a:r>
            <a:r>
              <a:rPr lang="el-GR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β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, 0</a:t>
            </a:r>
            <a:r>
              <a:rPr lang="el-GR" sz="1400" dirty="0">
                <a:solidFill>
                  <a:srgbClr val="CF01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γ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, 1</a:t>
            </a:r>
            <a:r>
              <a:rPr lang="el-GR" sz="14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α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n-US" sz="1400" dirty="0"/>
          </a:p>
        </p:txBody>
      </p:sp>
      <p:sp>
        <p:nvSpPr>
          <p:cNvPr id="27" name="Rectangle 26"/>
          <p:cNvSpPr/>
          <p:nvPr/>
        </p:nvSpPr>
        <p:spPr>
          <a:xfrm>
            <a:off x="4563734" y="4286181"/>
            <a:ext cx="11946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( 1</a:t>
            </a:r>
            <a:r>
              <a:rPr lang="el-GR" sz="14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β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, 0</a:t>
            </a:r>
            <a:r>
              <a:rPr lang="el-GR" sz="1400" dirty="0">
                <a:solidFill>
                  <a:srgbClr val="CF01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γ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, 0</a:t>
            </a:r>
            <a:r>
              <a:rPr lang="el-GR" sz="14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α</a:t>
            </a:r>
            <a:r>
              <a:rPr lang="en-US" sz="1400" dirty="0"/>
              <a:t> </a:t>
            </a:r>
            <a:r>
              <a:rPr 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)</a:t>
            </a:r>
            <a:endParaRPr lang="en-US" sz="1400" dirty="0"/>
          </a:p>
        </p:txBody>
      </p:sp>
      <p:grpSp>
        <p:nvGrpSpPr>
          <p:cNvPr id="4" name="Group 3"/>
          <p:cNvGrpSpPr/>
          <p:nvPr/>
        </p:nvGrpSpPr>
        <p:grpSpPr>
          <a:xfrm>
            <a:off x="6280882" y="4719381"/>
            <a:ext cx="264221" cy="1835998"/>
            <a:chOff x="6280882" y="4719381"/>
            <a:chExt cx="264221" cy="1835998"/>
          </a:xfrm>
        </p:grpSpPr>
        <p:sp>
          <p:nvSpPr>
            <p:cNvPr id="28" name="Rectangle 27"/>
            <p:cNvSpPr/>
            <p:nvPr/>
          </p:nvSpPr>
          <p:spPr>
            <a:xfrm>
              <a:off x="6280882" y="6247602"/>
              <a:ext cx="264221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6280882" y="4719381"/>
              <a:ext cx="264221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/>
                <a:t>1</a:t>
              </a:r>
            </a:p>
          </p:txBody>
        </p:sp>
      </p:grpSp>
      <p:grpSp>
        <p:nvGrpSpPr>
          <p:cNvPr id="33" name="Group 32"/>
          <p:cNvGrpSpPr/>
          <p:nvPr/>
        </p:nvGrpSpPr>
        <p:grpSpPr>
          <a:xfrm rot="7064306">
            <a:off x="9872932" y="3631473"/>
            <a:ext cx="274395" cy="2021786"/>
            <a:chOff x="6270708" y="4719381"/>
            <a:chExt cx="274395" cy="1859139"/>
          </a:xfrm>
        </p:grpSpPr>
        <p:sp>
          <p:nvSpPr>
            <p:cNvPr id="34" name="Rectangle 33"/>
            <p:cNvSpPr/>
            <p:nvPr/>
          </p:nvSpPr>
          <p:spPr>
            <a:xfrm>
              <a:off x="6270708" y="6270743"/>
              <a:ext cx="264221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6280882" y="4719381"/>
              <a:ext cx="264221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/>
                <a:t>1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 rot="14531426">
            <a:off x="2329199" y="3597038"/>
            <a:ext cx="298538" cy="2031077"/>
            <a:chOff x="6280882" y="4719381"/>
            <a:chExt cx="298538" cy="1862923"/>
          </a:xfrm>
        </p:grpSpPr>
        <p:sp>
          <p:nvSpPr>
            <p:cNvPr id="37" name="Rectangle 36"/>
            <p:cNvSpPr/>
            <p:nvPr/>
          </p:nvSpPr>
          <p:spPr>
            <a:xfrm>
              <a:off x="6315199" y="6274527"/>
              <a:ext cx="264221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/>
                <a:t>0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280882" y="4719381"/>
              <a:ext cx="264221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400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32922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581495"/>
            <a:ext cx="4061341" cy="1371600"/>
          </a:xfrm>
        </p:spPr>
        <p:txBody>
          <a:bodyPr/>
          <a:lstStyle/>
          <a:p>
            <a:r>
              <a:rPr lang="en-US" dirty="0"/>
              <a:t>Finding the Barycentric Coordinates of a point relative to a triangle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1953095"/>
            <a:ext cx="4061341" cy="3942410"/>
          </a:xfrm>
        </p:spPr>
        <p:txBody>
          <a:bodyPr>
            <a:normAutofit/>
          </a:bodyPr>
          <a:lstStyle/>
          <a:p>
            <a:r>
              <a:rPr lang="el-GR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β</a:t>
            </a:r>
            <a:r>
              <a:rPr lang="en-US" dirty="0"/>
              <a:t> = </a:t>
            </a:r>
            <a:r>
              <a:rPr lang="en-US" dirty="0" err="1"/>
              <a:t>ImplicitLineEquation</a:t>
            </a:r>
            <a:r>
              <a:rPr lang="en-US" dirty="0"/>
              <a:t> ( </a:t>
            </a:r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US" dirty="0"/>
              <a:t>, line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dirty="0"/>
              <a:t> )</a:t>
            </a:r>
          </a:p>
          <a:p>
            <a:r>
              <a:rPr lang="el-GR" dirty="0">
                <a:solidFill>
                  <a:srgbClr val="CF01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γ</a:t>
            </a:r>
            <a:r>
              <a:rPr lang="el-GR" dirty="0"/>
              <a:t> </a:t>
            </a:r>
            <a:r>
              <a:rPr lang="en-US" dirty="0"/>
              <a:t>= </a:t>
            </a:r>
            <a:r>
              <a:rPr lang="en-US" dirty="0" err="1"/>
              <a:t>ImplicitLineEquation</a:t>
            </a:r>
            <a:r>
              <a:rPr lang="en-US" dirty="0"/>
              <a:t> ( </a:t>
            </a:r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dirty="0"/>
              <a:t>, line </a:t>
            </a:r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dirty="0"/>
              <a:t> ) </a:t>
            </a:r>
          </a:p>
          <a:p>
            <a:r>
              <a:rPr lang="el-GR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α</a:t>
            </a:r>
            <a:r>
              <a:rPr lang="en-US" dirty="0"/>
              <a:t> = </a:t>
            </a:r>
            <a:r>
              <a:rPr lang="en-US" dirty="0" err="1"/>
              <a:t>ImplicitLineEquation</a:t>
            </a:r>
            <a:r>
              <a:rPr lang="en-US" dirty="0"/>
              <a:t> (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dirty="0"/>
              <a:t>, line </a:t>
            </a:r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US" dirty="0"/>
              <a:t> )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n-US" dirty="0" err="1"/>
              <a:t>ImplicitLineEquation</a:t>
            </a:r>
            <a:r>
              <a:rPr lang="en-US" dirty="0"/>
              <a:t> ( </a:t>
            </a:r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dirty="0"/>
              <a:t>, line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dirty="0"/>
              <a:t> )</a:t>
            </a:r>
          </a:p>
          <a:p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n-US" dirty="0" err="1"/>
              <a:t>ImplicitLineEquation</a:t>
            </a:r>
            <a:r>
              <a:rPr lang="en-US" dirty="0"/>
              <a:t> ( </a:t>
            </a:r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dirty="0"/>
              <a:t>, line </a:t>
            </a:r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</a:t>
            </a:r>
            <a:r>
              <a:rPr lang="en-US" dirty="0"/>
              <a:t> )</a:t>
            </a:r>
          </a:p>
          <a:p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= </a:t>
            </a:r>
            <a:r>
              <a:rPr lang="en-US" dirty="0" err="1"/>
              <a:t>ImplicitLineEquation</a:t>
            </a:r>
            <a:r>
              <a:rPr lang="en-US" dirty="0"/>
              <a:t> ( </a:t>
            </a:r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n-US" dirty="0"/>
              <a:t>, line </a:t>
            </a:r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</a:t>
            </a:r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</a:t>
            </a:r>
            <a:r>
              <a:rPr lang="en-US" dirty="0"/>
              <a:t> )</a:t>
            </a:r>
            <a:endParaRPr lang="en-US" dirty="0">
              <a:solidFill>
                <a:srgbClr val="000000"/>
              </a:solidFill>
              <a:latin typeface="Arial" panose="020B0604020202020204" pitchFamily="34" charset="0"/>
            </a:endParaRPr>
          </a:p>
          <a:p>
            <a:r>
              <a:rPr lang="en-US" b="1" dirty="0">
                <a:solidFill>
                  <a:schemeClr val="accent2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</a:t>
            </a:r>
            <a:r>
              <a:rPr lang="el-GR" baseline="-25000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β</a:t>
            </a:r>
            <a:r>
              <a:rPr lang="el-GR" baseline="-25000" dirty="0">
                <a:solidFill>
                  <a:srgbClr val="CF01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γ</a:t>
            </a:r>
            <a:r>
              <a:rPr lang="el-GR" baseline="-25000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α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= ( </a:t>
            </a:r>
            <a:r>
              <a: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b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/ </a:t>
            </a:r>
            <a:r>
              <a:rPr lang="el-GR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β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, </a:t>
            </a:r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y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/ </a:t>
            </a:r>
            <a:r>
              <a:rPr lang="el-GR" dirty="0">
                <a:solidFill>
                  <a:srgbClr val="CF01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γ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, </a:t>
            </a:r>
            <a:r>
              <a:rPr 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a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/ </a:t>
            </a:r>
            <a:r>
              <a:rPr lang="el-GR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α</a:t>
            </a:r>
            <a:r>
              <a:rPr lang="en-US" dirty="0">
                <a:solidFill>
                  <a:srgbClr val="000000"/>
                </a:solidFill>
                <a:latin typeface="Arial" panose="020B0604020202020204" pitchFamily="34" charset="0"/>
              </a:rPr>
              <a:t> )  </a:t>
            </a:r>
            <a:r>
              <a:rPr lang="en-US" dirty="0"/>
              <a:t> </a:t>
            </a:r>
          </a:p>
          <a:p>
            <a:r>
              <a:rPr lang="en-US" dirty="0"/>
              <a:t>Could we use the Barycentric coordinates to detect if we are inside or outside the triangle? If so… how?</a:t>
            </a:r>
          </a:p>
        </p:txBody>
      </p:sp>
      <p:grpSp>
        <p:nvGrpSpPr>
          <p:cNvPr id="70" name="Group 69"/>
          <p:cNvGrpSpPr/>
          <p:nvPr/>
        </p:nvGrpSpPr>
        <p:grpSpPr>
          <a:xfrm>
            <a:off x="5545653" y="581495"/>
            <a:ext cx="6450536" cy="6040978"/>
            <a:chOff x="5545653" y="581495"/>
            <a:chExt cx="5674282" cy="5314010"/>
          </a:xfrm>
        </p:grpSpPr>
        <p:pic>
          <p:nvPicPr>
            <p:cNvPr id="5" name="Picture 2" descr="C:\Users\lnorri\Downloads\PP Images\2D_Cartesian_Coordinates.PNG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5545653" y="581495"/>
              <a:ext cx="5674282" cy="5314010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</p:pic>
        <p:cxnSp>
          <p:nvCxnSpPr>
            <p:cNvPr id="7" name="Straight Connector 6"/>
            <p:cNvCxnSpPr/>
            <p:nvPr/>
          </p:nvCxnSpPr>
          <p:spPr>
            <a:xfrm>
              <a:off x="7768046" y="1428206"/>
              <a:ext cx="2159725" cy="2516777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V="1">
              <a:off x="6688183" y="3944983"/>
              <a:ext cx="3239588" cy="1079863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688183" y="1428207"/>
              <a:ext cx="1079863" cy="3596639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7589952" y="1071466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9927771" y="3776397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B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367933" y="4947396"/>
              <a:ext cx="370614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H="1">
              <a:off x="6702609" y="3190711"/>
              <a:ext cx="2539064" cy="1815468"/>
            </a:xfrm>
            <a:prstGeom prst="straightConnector1">
              <a:avLst/>
            </a:prstGeom>
            <a:ln w="28575">
              <a:solidFill>
                <a:srgbClr val="00FF00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Rectangle 22"/>
            <p:cNvSpPr/>
            <p:nvPr/>
          </p:nvSpPr>
          <p:spPr>
            <a:xfrm rot="13950874">
              <a:off x="9091622" y="3104329"/>
              <a:ext cx="121481" cy="121481"/>
            </a:xfrm>
            <a:prstGeom prst="rect">
              <a:avLst/>
            </a:prstGeom>
            <a:noFill/>
            <a:ln>
              <a:solidFill>
                <a:srgbClr val="00FF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>
              <a:stCxn id="30" idx="1"/>
            </p:cNvCxnSpPr>
            <p:nvPr/>
          </p:nvCxnSpPr>
          <p:spPr>
            <a:xfrm flipH="1" flipV="1">
              <a:off x="7775244" y="1471576"/>
              <a:ext cx="1127826" cy="2755098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/>
            <p:cNvSpPr/>
            <p:nvPr/>
          </p:nvSpPr>
          <p:spPr>
            <a:xfrm rot="20243321">
              <a:off x="8897666" y="4129348"/>
              <a:ext cx="140596" cy="14059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Arrow Connector 32"/>
            <p:cNvCxnSpPr/>
            <p:nvPr/>
          </p:nvCxnSpPr>
          <p:spPr>
            <a:xfrm>
              <a:off x="7198459" y="3234100"/>
              <a:ext cx="2694934" cy="690200"/>
            </a:xfrm>
            <a:prstGeom prst="straightConnector1">
              <a:avLst/>
            </a:prstGeom>
            <a:ln w="28575">
              <a:solidFill>
                <a:srgbClr val="0000FF"/>
              </a:solidFill>
              <a:prstDash val="solid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/>
            <p:cNvSpPr/>
            <p:nvPr/>
          </p:nvSpPr>
          <p:spPr>
            <a:xfrm rot="6385476">
              <a:off x="7249716" y="3108277"/>
              <a:ext cx="154826" cy="154826"/>
            </a:xfrm>
            <a:prstGeom prst="rect">
              <a:avLst/>
            </a:prstGeom>
            <a:noFill/>
            <a:ln>
              <a:solidFill>
                <a:srgbClr val="00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3" name="Straight Arrow Connector 42"/>
            <p:cNvCxnSpPr/>
            <p:nvPr/>
          </p:nvCxnSpPr>
          <p:spPr>
            <a:xfrm flipH="1">
              <a:off x="7469201" y="2849125"/>
              <a:ext cx="1453211" cy="1039067"/>
            </a:xfrm>
            <a:prstGeom prst="straightConnector1">
              <a:avLst/>
            </a:prstGeom>
            <a:ln w="28575">
              <a:solidFill>
                <a:srgbClr val="00FF00"/>
              </a:solidFill>
              <a:prstDash val="sysDot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>
              <a:off x="7060296" y="3846548"/>
              <a:ext cx="264476" cy="67735"/>
            </a:xfrm>
            <a:prstGeom prst="straightConnector1">
              <a:avLst/>
            </a:prstGeom>
            <a:ln w="28575">
              <a:solidFill>
                <a:srgbClr val="0000FF"/>
              </a:solidFill>
              <a:prstDash val="sysDot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 flipH="1" flipV="1">
              <a:off x="7447476" y="4035104"/>
              <a:ext cx="255554" cy="624278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sysDot"/>
              <a:tailEnd type="triangle"/>
            </a:ln>
            <a:effectLst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TextBox 52"/>
            <p:cNvSpPr txBox="1"/>
            <p:nvPr/>
          </p:nvSpPr>
          <p:spPr>
            <a:xfrm>
              <a:off x="7475541" y="3855434"/>
              <a:ext cx="3561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1" dirty="0">
                  <a:solidFill>
                    <a:schemeClr val="accent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P</a:t>
              </a:r>
            </a:p>
          </p:txBody>
        </p:sp>
        <p:sp>
          <p:nvSpPr>
            <p:cNvPr id="42" name="5-Point Star 41"/>
            <p:cNvSpPr/>
            <p:nvPr/>
          </p:nvSpPr>
          <p:spPr>
            <a:xfrm>
              <a:off x="7324772" y="3846548"/>
              <a:ext cx="174171" cy="174171"/>
            </a:xfrm>
            <a:prstGeom prst="star5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/>
            <p:cNvSpPr/>
            <p:nvPr/>
          </p:nvSpPr>
          <p:spPr>
            <a:xfrm rot="6310603">
              <a:off x="8984540" y="3642410"/>
              <a:ext cx="31771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dirty="0">
                  <a:solidFill>
                    <a:srgbClr val="FF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</a:rPr>
                <a:t>β</a:t>
              </a:r>
              <a:endPara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 rot="14196915">
              <a:off x="7085362" y="4315974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dirty="0">
                  <a:solidFill>
                    <a:srgbClr val="CF01A8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</a:rPr>
                <a:t>γ</a:t>
              </a:r>
              <a:endParaRPr lang="en-US" dirty="0">
                <a:solidFill>
                  <a:srgbClr val="CF01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 rot="20283461">
              <a:off x="8215621" y="2447735"/>
              <a:ext cx="31771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l-GR" dirty="0">
                  <a:solidFill>
                    <a:srgbClr val="66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α</a:t>
              </a:r>
              <a:endParaRPr lang="en-US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 rot="6310603">
              <a:off x="7010858" y="3618331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00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</a:rPr>
                <a:t>b</a:t>
              </a:r>
              <a:endParaRPr lang="en-US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0" name="Rectangle 59"/>
            <p:cNvSpPr/>
            <p:nvPr/>
          </p:nvSpPr>
          <p:spPr>
            <a:xfrm rot="14196915">
              <a:off x="7709128" y="3581075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00FF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</a:rPr>
                <a:t>y</a:t>
              </a:r>
              <a:endPara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endParaRPr>
            </a:p>
          </p:txBody>
        </p:sp>
        <p:sp>
          <p:nvSpPr>
            <p:cNvPr id="61" name="Rectangle 60"/>
            <p:cNvSpPr/>
            <p:nvPr/>
          </p:nvSpPr>
          <p:spPr>
            <a:xfrm rot="20283461">
              <a:off x="7601564" y="4310971"/>
              <a:ext cx="3129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47861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/>
          <p:cNvCxnSpPr/>
          <p:nvPr/>
        </p:nvCxnSpPr>
        <p:spPr>
          <a:xfrm flipH="1">
            <a:off x="1458186" y="2744233"/>
            <a:ext cx="2973460" cy="2672101"/>
          </a:xfrm>
          <a:prstGeom prst="line">
            <a:avLst/>
          </a:prstGeom>
          <a:ln w="19050">
            <a:solidFill>
              <a:srgbClr val="FFFF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Triangle Drawing Algorithms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87" t="10224" r="8383" b="8998"/>
          <a:stretch/>
        </p:blipFill>
        <p:spPr>
          <a:xfrm>
            <a:off x="4464694" y="2468880"/>
            <a:ext cx="6766560" cy="4114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8" name="Rectangle 7"/>
          <p:cNvSpPr/>
          <p:nvPr/>
        </p:nvSpPr>
        <p:spPr>
          <a:xfrm>
            <a:off x="4431646" y="2434044"/>
            <a:ext cx="306609" cy="310189"/>
          </a:xfrm>
          <a:prstGeom prst="rect">
            <a:avLst/>
          </a:prstGeom>
          <a:noFill/>
          <a:ln w="38100">
            <a:solidFill>
              <a:srgbClr val="FFFF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1484312" y="2441838"/>
            <a:ext cx="2938546" cy="618828"/>
          </a:xfrm>
          <a:prstGeom prst="line">
            <a:avLst/>
          </a:prstGeom>
          <a:ln w="19050">
            <a:solidFill>
              <a:srgbClr val="FFFF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 flipH="1">
            <a:off x="3796437" y="2429164"/>
            <a:ext cx="960290" cy="631502"/>
          </a:xfrm>
          <a:prstGeom prst="line">
            <a:avLst/>
          </a:prstGeom>
          <a:ln w="19050">
            <a:solidFill>
              <a:srgbClr val="FFFF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3770312" y="2747672"/>
            <a:ext cx="967943" cy="2633828"/>
          </a:xfrm>
          <a:prstGeom prst="line">
            <a:avLst/>
          </a:prstGeom>
          <a:ln w="19050">
            <a:solidFill>
              <a:srgbClr val="FFFF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11" t="46343" r="48110" b="48117"/>
          <a:stretch/>
        </p:blipFill>
        <p:spPr>
          <a:xfrm>
            <a:off x="1484311" y="3095500"/>
            <a:ext cx="2286000" cy="2286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21" name="Right Arrow 20"/>
          <p:cNvSpPr/>
          <p:nvPr/>
        </p:nvSpPr>
        <p:spPr>
          <a:xfrm>
            <a:off x="4464694" y="2055223"/>
            <a:ext cx="6766560" cy="342997"/>
          </a:xfrm>
          <a:prstGeom prst="rightArrow">
            <a:avLst>
              <a:gd name="adj1" fmla="val 50000"/>
              <a:gd name="adj2" fmla="val 247212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Positive </a:t>
            </a:r>
            <a:r>
              <a:rPr lang="en-US" sz="1100" b="1" dirty="0">
                <a:solidFill>
                  <a:srgbClr val="FF0000"/>
                </a:solidFill>
              </a:rPr>
              <a:t>X</a:t>
            </a:r>
            <a:r>
              <a:rPr lang="en-US" sz="1100" b="1" dirty="0">
                <a:solidFill>
                  <a:schemeClr val="tx1"/>
                </a:solidFill>
              </a:rPr>
              <a:t> Axis</a:t>
            </a:r>
          </a:p>
        </p:txBody>
      </p:sp>
      <p:sp>
        <p:nvSpPr>
          <p:cNvPr id="22" name="Right Arrow 21"/>
          <p:cNvSpPr/>
          <p:nvPr/>
        </p:nvSpPr>
        <p:spPr>
          <a:xfrm rot="5400000">
            <a:off x="9416688" y="4319061"/>
            <a:ext cx="4145283" cy="383960"/>
          </a:xfrm>
          <a:prstGeom prst="rightArrow">
            <a:avLst>
              <a:gd name="adj1" fmla="val 50000"/>
              <a:gd name="adj2" fmla="val 153719"/>
            </a:avLst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b="1" dirty="0">
                <a:solidFill>
                  <a:schemeClr val="tx1"/>
                </a:solidFill>
              </a:rPr>
              <a:t>Positive </a:t>
            </a:r>
            <a:r>
              <a:rPr lang="en-US" sz="1100" b="1" dirty="0">
                <a:solidFill>
                  <a:srgbClr val="FF0000"/>
                </a:solidFill>
              </a:rPr>
              <a:t>Y</a:t>
            </a:r>
            <a:r>
              <a:rPr lang="en-US" sz="1100" b="1" dirty="0">
                <a:solidFill>
                  <a:schemeClr val="tx1"/>
                </a:solidFill>
              </a:rPr>
              <a:t> Axis</a:t>
            </a:r>
          </a:p>
        </p:txBody>
      </p:sp>
      <p:sp>
        <p:nvSpPr>
          <p:cNvPr id="23" name="5-Point Star 22"/>
          <p:cNvSpPr/>
          <p:nvPr/>
        </p:nvSpPr>
        <p:spPr>
          <a:xfrm>
            <a:off x="1741715" y="3374175"/>
            <a:ext cx="174171" cy="174171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/>
          <p:cNvSpPr/>
          <p:nvPr/>
        </p:nvSpPr>
        <p:spPr>
          <a:xfrm>
            <a:off x="2566726" y="3429590"/>
            <a:ext cx="87086" cy="8708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3304653" y="3434341"/>
            <a:ext cx="87086" cy="8708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3304653" y="4194957"/>
            <a:ext cx="87086" cy="8708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/>
          <p:cNvSpPr/>
          <p:nvPr/>
        </p:nvSpPr>
        <p:spPr>
          <a:xfrm>
            <a:off x="2566726" y="4201091"/>
            <a:ext cx="87086" cy="8708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1785257" y="4194957"/>
            <a:ext cx="87086" cy="8708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1785257" y="4928654"/>
            <a:ext cx="87086" cy="8708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2566726" y="4928654"/>
            <a:ext cx="87086" cy="8708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3308757" y="4928654"/>
            <a:ext cx="87086" cy="87086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7148945" y="2484582"/>
            <a:ext cx="3990110" cy="391621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580606" y="3552128"/>
            <a:ext cx="496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(0,0)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379117" y="3548346"/>
            <a:ext cx="496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(1,0)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100002" y="3547553"/>
            <a:ext cx="496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(2,0)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584959" y="4305200"/>
            <a:ext cx="496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(0,1)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62075" y="4299527"/>
            <a:ext cx="496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(1,1)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100002" y="4299527"/>
            <a:ext cx="496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(2,1)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80606" y="5019179"/>
            <a:ext cx="496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(0,2)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362075" y="5019179"/>
            <a:ext cx="496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(1,2)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100002" y="5019179"/>
            <a:ext cx="4963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(2,2)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4636297" y="4535857"/>
            <a:ext cx="6502758" cy="1880645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/>
          <p:nvPr/>
        </p:nvCxnSpPr>
        <p:spPr>
          <a:xfrm flipH="1">
            <a:off x="4640137" y="2484582"/>
            <a:ext cx="2508809" cy="2041698"/>
          </a:xfrm>
          <a:prstGeom prst="line">
            <a:avLst/>
          </a:prstGeom>
          <a:ln w="19050">
            <a:solidFill>
              <a:schemeClr val="tx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51699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094" y="685800"/>
            <a:ext cx="5105400" cy="5105400"/>
          </a:xfrm>
        </p:spPr>
      </p:pic>
      <p:sp>
        <p:nvSpPr>
          <p:cNvPr id="74" name="Rectangle 73"/>
          <p:cNvSpPr/>
          <p:nvPr/>
        </p:nvSpPr>
        <p:spPr>
          <a:xfrm>
            <a:off x="7583171" y="4141000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729408" y="3298180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721154" y="4146369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4338908" cy="1371600"/>
          </a:xfrm>
        </p:spPr>
        <p:txBody>
          <a:bodyPr anchor="ctr"/>
          <a:lstStyle/>
          <a:p>
            <a:r>
              <a:rPr lang="en-US" dirty="0"/>
              <a:t>Brute Triangle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4338908" cy="2819400"/>
          </a:xfrm>
        </p:spPr>
        <p:txBody>
          <a:bodyPr/>
          <a:lstStyle/>
          <a:p>
            <a:pPr algn="l"/>
            <a:r>
              <a:rPr lang="en-US" dirty="0"/>
              <a:t>FOR ALL PIXELS</a:t>
            </a:r>
          </a:p>
          <a:p>
            <a:pPr algn="l"/>
            <a:r>
              <a:rPr lang="en-US" dirty="0"/>
              <a:t>	</a:t>
            </a:r>
            <a:r>
              <a:rPr lang="en-US" dirty="0" err="1"/>
              <a:t>bya</a:t>
            </a:r>
            <a:r>
              <a:rPr lang="en-US" dirty="0"/>
              <a:t> = </a:t>
            </a:r>
            <a:r>
              <a:rPr lang="en-US" dirty="0" err="1"/>
              <a:t>FindBarycentric</a:t>
            </a:r>
            <a:r>
              <a:rPr lang="en-US" dirty="0"/>
              <a:t> ( </a:t>
            </a:r>
            <a:r>
              <a:rPr lang="en-US" dirty="0" err="1"/>
              <a:t>CurrX</a:t>
            </a:r>
            <a:r>
              <a:rPr lang="en-US" dirty="0"/>
              <a:t>, </a:t>
            </a:r>
            <a:r>
              <a:rPr lang="en-US" dirty="0" err="1"/>
              <a:t>CurrY</a:t>
            </a:r>
            <a:r>
              <a:rPr lang="en-US" dirty="0"/>
              <a:t> )</a:t>
            </a:r>
          </a:p>
          <a:p>
            <a:pPr algn="l"/>
            <a:r>
              <a:rPr lang="en-US" dirty="0"/>
              <a:t>	IF 	b &gt;=0 &amp;&amp; b &lt;= 1 &amp;&amp; </a:t>
            </a:r>
          </a:p>
          <a:p>
            <a:pPr algn="l"/>
            <a:r>
              <a:rPr lang="en-US" dirty="0"/>
              <a:t>		y &gt;=0 &amp;&amp; y &lt;= 1 &amp;&amp;</a:t>
            </a:r>
          </a:p>
          <a:p>
            <a:pPr algn="l"/>
            <a:r>
              <a:rPr lang="en-US" dirty="0"/>
              <a:t>		a &gt;=0 &amp;&amp; a &lt;= 1</a:t>
            </a:r>
          </a:p>
          <a:p>
            <a:pPr algn="l"/>
            <a:r>
              <a:rPr lang="en-US" dirty="0"/>
              <a:t>	THEN</a:t>
            </a:r>
          </a:p>
          <a:p>
            <a:pPr algn="l"/>
            <a:r>
              <a:rPr lang="en-US" dirty="0"/>
              <a:t>		</a:t>
            </a:r>
            <a:r>
              <a:rPr lang="en-US" dirty="0" err="1"/>
              <a:t>PlotPixel</a:t>
            </a:r>
            <a:r>
              <a:rPr lang="en-US" dirty="0"/>
              <a:t> ( </a:t>
            </a:r>
            <a:r>
              <a:rPr lang="en-US" dirty="0" err="1"/>
              <a:t>CurrX</a:t>
            </a:r>
            <a:r>
              <a:rPr lang="en-US" dirty="0"/>
              <a:t>, </a:t>
            </a:r>
            <a:r>
              <a:rPr lang="en-US" dirty="0" err="1"/>
              <a:t>CurrY</a:t>
            </a:r>
            <a:r>
              <a:rPr lang="en-US" dirty="0"/>
              <a:t> )</a:t>
            </a:r>
          </a:p>
        </p:txBody>
      </p:sp>
      <p:sp>
        <p:nvSpPr>
          <p:cNvPr id="6" name="Rectangle 5"/>
          <p:cNvSpPr/>
          <p:nvPr/>
        </p:nvSpPr>
        <p:spPr>
          <a:xfrm>
            <a:off x="8423587" y="4152706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723017" y="2436223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723017" y="1607820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580811" y="3294017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5869858" y="740740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6723298" y="747271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576738" y="740740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8423587" y="747271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29897" y="3294017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9283337" y="4146369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9283618" y="740740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10109556" y="740740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5869858" y="1594158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7576738" y="1594158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423587" y="1600689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9283618" y="1594158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10109556" y="1594158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5869858" y="2443141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8423587" y="2449672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9283618" y="2443141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10109556" y="2443141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5869858" y="3295221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9283618" y="3295221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10109556" y="3295221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5869858" y="4136082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10109556" y="4136082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ectangle 55"/>
          <p:cNvSpPr/>
          <p:nvPr/>
        </p:nvSpPr>
        <p:spPr>
          <a:xfrm>
            <a:off x="5869858" y="4992793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6723298" y="4999324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ectangle 57"/>
          <p:cNvSpPr/>
          <p:nvPr/>
        </p:nvSpPr>
        <p:spPr>
          <a:xfrm>
            <a:off x="7576738" y="4992793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ectangle 58"/>
          <p:cNvSpPr/>
          <p:nvPr/>
        </p:nvSpPr>
        <p:spPr>
          <a:xfrm>
            <a:off x="8423587" y="4999324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9283618" y="4992793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Rectangle 60"/>
          <p:cNvSpPr/>
          <p:nvPr/>
        </p:nvSpPr>
        <p:spPr>
          <a:xfrm>
            <a:off x="10109556" y="4992793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7580811" y="2436223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7022403" y="1727200"/>
            <a:ext cx="2871592" cy="2991209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7022403" y="1727200"/>
            <a:ext cx="0" cy="2991209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>
            <a:off x="7022403" y="4718409"/>
            <a:ext cx="2871593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9290" y="1587676"/>
            <a:ext cx="7969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X1, Y1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10233" y="4154486"/>
            <a:ext cx="7969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X3, Y3</a:t>
            </a:r>
          </a:p>
        </p:txBody>
      </p:sp>
      <p:sp>
        <p:nvSpPr>
          <p:cNvPr id="76" name="Oval 75"/>
          <p:cNvSpPr/>
          <p:nvPr/>
        </p:nvSpPr>
        <p:spPr>
          <a:xfrm>
            <a:off x="6210077" y="1074931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/>
          <p:cNvSpPr/>
          <p:nvPr/>
        </p:nvSpPr>
        <p:spPr>
          <a:xfrm>
            <a:off x="7069042" y="1074931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Oval 78"/>
          <p:cNvSpPr/>
          <p:nvPr/>
        </p:nvSpPr>
        <p:spPr>
          <a:xfrm>
            <a:off x="7922805" y="1069430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8763009" y="1076832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/>
          <p:cNvSpPr/>
          <p:nvPr/>
        </p:nvSpPr>
        <p:spPr>
          <a:xfrm>
            <a:off x="9622971" y="1068326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Oval 81"/>
          <p:cNvSpPr/>
          <p:nvPr/>
        </p:nvSpPr>
        <p:spPr>
          <a:xfrm>
            <a:off x="10449190" y="1068326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Oval 82"/>
          <p:cNvSpPr/>
          <p:nvPr/>
        </p:nvSpPr>
        <p:spPr>
          <a:xfrm>
            <a:off x="6210077" y="1939044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Oval 83"/>
          <p:cNvSpPr/>
          <p:nvPr/>
        </p:nvSpPr>
        <p:spPr>
          <a:xfrm>
            <a:off x="7069042" y="1939044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7922805" y="1933543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8763009" y="1940945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9622971" y="1932439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Oval 87"/>
          <p:cNvSpPr/>
          <p:nvPr/>
        </p:nvSpPr>
        <p:spPr>
          <a:xfrm>
            <a:off x="10449190" y="1932439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/>
          <p:cNvSpPr/>
          <p:nvPr/>
        </p:nvSpPr>
        <p:spPr>
          <a:xfrm>
            <a:off x="6210077" y="2777997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7069042" y="2777997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7922805" y="2772496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8763009" y="2779898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/>
          <p:cNvSpPr/>
          <p:nvPr/>
        </p:nvSpPr>
        <p:spPr>
          <a:xfrm>
            <a:off x="9622971" y="2771392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Oval 93"/>
          <p:cNvSpPr/>
          <p:nvPr/>
        </p:nvSpPr>
        <p:spPr>
          <a:xfrm>
            <a:off x="10449190" y="2771392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/>
          <p:cNvSpPr/>
          <p:nvPr/>
        </p:nvSpPr>
        <p:spPr>
          <a:xfrm>
            <a:off x="6210077" y="3628029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7069042" y="3628029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7922805" y="3622528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/>
          <p:cNvSpPr/>
          <p:nvPr/>
        </p:nvSpPr>
        <p:spPr>
          <a:xfrm>
            <a:off x="8763009" y="3629930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/>
          <p:nvPr/>
        </p:nvSpPr>
        <p:spPr>
          <a:xfrm>
            <a:off x="9622971" y="3621424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Oval 99"/>
          <p:cNvSpPr/>
          <p:nvPr/>
        </p:nvSpPr>
        <p:spPr>
          <a:xfrm>
            <a:off x="10449190" y="3621424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Oval 100"/>
          <p:cNvSpPr/>
          <p:nvPr/>
        </p:nvSpPr>
        <p:spPr>
          <a:xfrm>
            <a:off x="6210077" y="4487491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/>
          <p:cNvSpPr/>
          <p:nvPr/>
        </p:nvSpPr>
        <p:spPr>
          <a:xfrm>
            <a:off x="7069042" y="4487491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/>
          <p:cNvSpPr/>
          <p:nvPr/>
        </p:nvSpPr>
        <p:spPr>
          <a:xfrm>
            <a:off x="7922805" y="4481990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/>
          <p:cNvSpPr/>
          <p:nvPr/>
        </p:nvSpPr>
        <p:spPr>
          <a:xfrm>
            <a:off x="8763009" y="4489392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9622971" y="4480886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Oval 105"/>
          <p:cNvSpPr/>
          <p:nvPr/>
        </p:nvSpPr>
        <p:spPr>
          <a:xfrm>
            <a:off x="10449190" y="4480886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Oval 106"/>
          <p:cNvSpPr/>
          <p:nvPr/>
        </p:nvSpPr>
        <p:spPr>
          <a:xfrm>
            <a:off x="6210077" y="5307245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8" name="Oval 107"/>
          <p:cNvSpPr/>
          <p:nvPr/>
        </p:nvSpPr>
        <p:spPr>
          <a:xfrm>
            <a:off x="7069042" y="5307245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9" name="Oval 108"/>
          <p:cNvSpPr/>
          <p:nvPr/>
        </p:nvSpPr>
        <p:spPr>
          <a:xfrm>
            <a:off x="7922805" y="5301744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Oval 109"/>
          <p:cNvSpPr/>
          <p:nvPr/>
        </p:nvSpPr>
        <p:spPr>
          <a:xfrm>
            <a:off x="8763009" y="5309146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1" name="Oval 110"/>
          <p:cNvSpPr/>
          <p:nvPr/>
        </p:nvSpPr>
        <p:spPr>
          <a:xfrm>
            <a:off x="9622971" y="5300640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Oval 111"/>
          <p:cNvSpPr/>
          <p:nvPr/>
        </p:nvSpPr>
        <p:spPr>
          <a:xfrm>
            <a:off x="10449190" y="5300640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252738" y="4184148"/>
            <a:ext cx="7969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X2, Y2</a:t>
            </a:r>
          </a:p>
        </p:txBody>
      </p:sp>
    </p:spTree>
    <p:extLst>
      <p:ext uri="{BB962C8B-B14F-4D97-AF65-F5344CB8AC3E}">
        <p14:creationId xmlns:p14="http://schemas.microsoft.com/office/powerpoint/2010/main" val="2331048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094" y="685800"/>
            <a:ext cx="5105400" cy="5105400"/>
          </a:xfrm>
        </p:spPr>
      </p:pic>
      <p:sp>
        <p:nvSpPr>
          <p:cNvPr id="74" name="Rectangle 73"/>
          <p:cNvSpPr/>
          <p:nvPr/>
        </p:nvSpPr>
        <p:spPr>
          <a:xfrm>
            <a:off x="7583171" y="4141000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/>
          <p:cNvSpPr/>
          <p:nvPr/>
        </p:nvSpPr>
        <p:spPr>
          <a:xfrm>
            <a:off x="6729408" y="3298180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6721154" y="4146369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97225"/>
            <a:ext cx="4329456" cy="1371600"/>
          </a:xfrm>
        </p:spPr>
        <p:txBody>
          <a:bodyPr anchor="ctr"/>
          <a:lstStyle/>
          <a:p>
            <a:r>
              <a:rPr lang="en-US" dirty="0"/>
              <a:t>Better Brute Triangle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068825"/>
            <a:ext cx="4359293" cy="3722375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US" dirty="0" err="1"/>
              <a:t>StartX</a:t>
            </a:r>
            <a:r>
              <a:rPr lang="en-US" dirty="0"/>
              <a:t> = MIN ( X1, X2, X3 )</a:t>
            </a:r>
          </a:p>
          <a:p>
            <a:pPr algn="l"/>
            <a:r>
              <a:rPr lang="en-US" dirty="0" err="1"/>
              <a:t>StartY</a:t>
            </a:r>
            <a:r>
              <a:rPr lang="en-US" dirty="0"/>
              <a:t> = MIN ( Y1, Y2, Y3 )</a:t>
            </a:r>
          </a:p>
          <a:p>
            <a:pPr algn="l"/>
            <a:r>
              <a:rPr lang="en-US" dirty="0" err="1"/>
              <a:t>EndX</a:t>
            </a:r>
            <a:r>
              <a:rPr lang="en-US" dirty="0"/>
              <a:t> = MAX ( X1, X2, X3 )</a:t>
            </a:r>
          </a:p>
          <a:p>
            <a:pPr algn="l"/>
            <a:r>
              <a:rPr lang="en-US" dirty="0" err="1"/>
              <a:t>EndY</a:t>
            </a:r>
            <a:r>
              <a:rPr lang="en-US" dirty="0"/>
              <a:t> = MAX ( Y1, Y2, Y3 )</a:t>
            </a:r>
          </a:p>
          <a:p>
            <a:pPr algn="l"/>
            <a:r>
              <a:rPr lang="en-US" dirty="0"/>
              <a:t>FOR </a:t>
            </a:r>
            <a:r>
              <a:rPr lang="en-US" dirty="0" err="1"/>
              <a:t>StartY</a:t>
            </a:r>
            <a:r>
              <a:rPr lang="en-US" dirty="0"/>
              <a:t> to </a:t>
            </a:r>
            <a:r>
              <a:rPr lang="en-US" dirty="0" err="1"/>
              <a:t>EndY</a:t>
            </a:r>
            <a:endParaRPr lang="en-US" dirty="0"/>
          </a:p>
          <a:p>
            <a:pPr algn="l"/>
            <a:r>
              <a:rPr lang="en-US" dirty="0"/>
              <a:t>	FOR </a:t>
            </a:r>
            <a:r>
              <a:rPr lang="en-US" dirty="0" err="1"/>
              <a:t>StartX</a:t>
            </a:r>
            <a:r>
              <a:rPr lang="en-US" dirty="0"/>
              <a:t> to </a:t>
            </a:r>
            <a:r>
              <a:rPr lang="en-US" dirty="0" err="1"/>
              <a:t>EndX</a:t>
            </a:r>
            <a:endParaRPr lang="en-US" dirty="0"/>
          </a:p>
          <a:p>
            <a:pPr algn="l"/>
            <a:r>
              <a:rPr lang="en-US" dirty="0"/>
              <a:t>		</a:t>
            </a:r>
            <a:r>
              <a:rPr lang="en-US" dirty="0" err="1"/>
              <a:t>bya</a:t>
            </a:r>
            <a:r>
              <a:rPr lang="en-US" dirty="0"/>
              <a:t> = </a:t>
            </a:r>
            <a:r>
              <a:rPr lang="en-US" dirty="0" err="1"/>
              <a:t>FindBarycentric</a:t>
            </a:r>
            <a:r>
              <a:rPr lang="en-US" dirty="0"/>
              <a:t> ( </a:t>
            </a:r>
            <a:r>
              <a:rPr lang="en-US" dirty="0" err="1"/>
              <a:t>CurrX</a:t>
            </a:r>
            <a:r>
              <a:rPr lang="en-US" dirty="0"/>
              <a:t>, </a:t>
            </a:r>
            <a:r>
              <a:rPr lang="en-US" dirty="0" err="1"/>
              <a:t>CurrY</a:t>
            </a:r>
            <a:r>
              <a:rPr lang="en-US" dirty="0"/>
              <a:t> )</a:t>
            </a:r>
          </a:p>
          <a:p>
            <a:pPr algn="l"/>
            <a:r>
              <a:rPr lang="en-US" dirty="0"/>
              <a:t>		IF 	b &gt;=0 &amp;&amp; b &lt;= 1 &amp;&amp; </a:t>
            </a:r>
          </a:p>
          <a:p>
            <a:pPr algn="l"/>
            <a:r>
              <a:rPr lang="en-US" dirty="0"/>
              <a:t>			y &gt;=0 &amp;&amp; y &lt;= 1 &amp;&amp;</a:t>
            </a:r>
          </a:p>
          <a:p>
            <a:pPr algn="l"/>
            <a:r>
              <a:rPr lang="en-US" dirty="0"/>
              <a:t>			a &gt;=0 &amp;&amp; a &lt;= 1</a:t>
            </a:r>
          </a:p>
          <a:p>
            <a:pPr algn="l"/>
            <a:r>
              <a:rPr lang="en-US" dirty="0"/>
              <a:t>		THEN</a:t>
            </a:r>
          </a:p>
          <a:p>
            <a:pPr algn="l"/>
            <a:r>
              <a:rPr lang="en-US" dirty="0"/>
              <a:t>			</a:t>
            </a:r>
            <a:r>
              <a:rPr lang="en-US" dirty="0" err="1"/>
              <a:t>PlotPixel</a:t>
            </a:r>
            <a:r>
              <a:rPr lang="en-US" dirty="0"/>
              <a:t> ( </a:t>
            </a:r>
            <a:r>
              <a:rPr lang="en-US" dirty="0" err="1"/>
              <a:t>CurrX</a:t>
            </a:r>
            <a:r>
              <a:rPr lang="en-US" dirty="0"/>
              <a:t>, </a:t>
            </a:r>
            <a:r>
              <a:rPr lang="en-US" dirty="0" err="1"/>
              <a:t>CurrY</a:t>
            </a:r>
            <a:r>
              <a:rPr lang="en-US" dirty="0"/>
              <a:t> )</a:t>
            </a:r>
          </a:p>
          <a:p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8423587" y="4152706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723017" y="2436223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723017" y="1607820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580811" y="3294017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8429897" y="3294017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9283337" y="4146369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7576738" y="1594158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8423587" y="1600689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9283618" y="1594158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8423587" y="2449672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9283618" y="2443141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/>
          <p:cNvSpPr/>
          <p:nvPr/>
        </p:nvSpPr>
        <p:spPr>
          <a:xfrm>
            <a:off x="9283618" y="3295221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7580811" y="2436223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7022403" y="1727200"/>
            <a:ext cx="2871592" cy="2991209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>
            <a:off x="7022403" y="1727200"/>
            <a:ext cx="0" cy="2991209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H="1">
            <a:off x="7022403" y="4718409"/>
            <a:ext cx="2871593" cy="0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99290" y="1587676"/>
            <a:ext cx="7969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X1, Y1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710233" y="4154486"/>
            <a:ext cx="7969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X3, Y3</a:t>
            </a:r>
          </a:p>
        </p:txBody>
      </p:sp>
      <p:sp>
        <p:nvSpPr>
          <p:cNvPr id="84" name="Oval 83"/>
          <p:cNvSpPr/>
          <p:nvPr/>
        </p:nvSpPr>
        <p:spPr>
          <a:xfrm>
            <a:off x="7069042" y="1939044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Oval 84"/>
          <p:cNvSpPr/>
          <p:nvPr/>
        </p:nvSpPr>
        <p:spPr>
          <a:xfrm>
            <a:off x="7922805" y="1933543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Oval 85"/>
          <p:cNvSpPr/>
          <p:nvPr/>
        </p:nvSpPr>
        <p:spPr>
          <a:xfrm>
            <a:off x="8763009" y="1940945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Oval 86"/>
          <p:cNvSpPr/>
          <p:nvPr/>
        </p:nvSpPr>
        <p:spPr>
          <a:xfrm>
            <a:off x="9622971" y="1932439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/>
          <p:cNvSpPr/>
          <p:nvPr/>
        </p:nvSpPr>
        <p:spPr>
          <a:xfrm>
            <a:off x="7069042" y="2777997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/>
          <p:cNvSpPr/>
          <p:nvPr/>
        </p:nvSpPr>
        <p:spPr>
          <a:xfrm>
            <a:off x="7922805" y="2772496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8763009" y="2779898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Oval 92"/>
          <p:cNvSpPr/>
          <p:nvPr/>
        </p:nvSpPr>
        <p:spPr>
          <a:xfrm>
            <a:off x="9622971" y="2771392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Oval 95"/>
          <p:cNvSpPr/>
          <p:nvPr/>
        </p:nvSpPr>
        <p:spPr>
          <a:xfrm>
            <a:off x="7069042" y="3628029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/>
          <p:cNvSpPr/>
          <p:nvPr/>
        </p:nvSpPr>
        <p:spPr>
          <a:xfrm>
            <a:off x="7922805" y="3622528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Oval 97"/>
          <p:cNvSpPr/>
          <p:nvPr/>
        </p:nvSpPr>
        <p:spPr>
          <a:xfrm>
            <a:off x="8763009" y="3629930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/>
          <p:cNvSpPr/>
          <p:nvPr/>
        </p:nvSpPr>
        <p:spPr>
          <a:xfrm>
            <a:off x="9622971" y="3621424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Oval 101"/>
          <p:cNvSpPr/>
          <p:nvPr/>
        </p:nvSpPr>
        <p:spPr>
          <a:xfrm>
            <a:off x="7069042" y="4487491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Oval 102"/>
          <p:cNvSpPr/>
          <p:nvPr/>
        </p:nvSpPr>
        <p:spPr>
          <a:xfrm>
            <a:off x="7922805" y="4481990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Oval 103"/>
          <p:cNvSpPr/>
          <p:nvPr/>
        </p:nvSpPr>
        <p:spPr>
          <a:xfrm>
            <a:off x="8763009" y="4489392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Oval 104"/>
          <p:cNvSpPr/>
          <p:nvPr/>
        </p:nvSpPr>
        <p:spPr>
          <a:xfrm>
            <a:off x="9622971" y="4480886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252738" y="4184148"/>
            <a:ext cx="7969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X2, Y2</a:t>
            </a:r>
          </a:p>
        </p:txBody>
      </p:sp>
      <p:sp>
        <p:nvSpPr>
          <p:cNvPr id="3" name="Rectangle 2"/>
          <p:cNvSpPr/>
          <p:nvPr/>
        </p:nvSpPr>
        <p:spPr>
          <a:xfrm>
            <a:off x="6609806" y="1480457"/>
            <a:ext cx="3549744" cy="3500845"/>
          </a:xfrm>
          <a:prstGeom prst="rect">
            <a:avLst/>
          </a:prstGeom>
          <a:noFill/>
          <a:ln w="57150">
            <a:solidFill>
              <a:srgbClr val="00FF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30211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0094" y="685800"/>
            <a:ext cx="5105400" cy="5105400"/>
          </a:xfrm>
          <a:prstGeom prst="rect">
            <a:avLst/>
          </a:prstGeom>
        </p:spPr>
      </p:pic>
      <p:sp>
        <p:nvSpPr>
          <p:cNvPr id="65" name="Rectangle 64"/>
          <p:cNvSpPr/>
          <p:nvPr/>
        </p:nvSpPr>
        <p:spPr>
          <a:xfrm>
            <a:off x="9286893" y="3293048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9626315" y="3633304"/>
            <a:ext cx="87086" cy="87086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98612" y="685799"/>
            <a:ext cx="3663421" cy="1371600"/>
          </a:xfrm>
        </p:spPr>
        <p:txBody>
          <a:bodyPr/>
          <a:lstStyle/>
          <a:p>
            <a:r>
              <a:rPr lang="en-US" dirty="0"/>
              <a:t>Lari’s Parametric Triangle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057399"/>
            <a:ext cx="3777721" cy="3733801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30093" y="5791200"/>
            <a:ext cx="510540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My personal take on rasterizing a triangle. From what I have seen this is similar to an “edge-walking” approach but with no special cases.</a:t>
            </a:r>
          </a:p>
          <a:p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8447314" y="2447243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591892" y="3292727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8447314" y="761970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8429897" y="3294017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9283337" y="4146369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7576738" y="1594158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6731273" y="3291146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8430078" y="4146369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7576931" y="2441727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8436440" y="1589561"/>
            <a:ext cx="766354" cy="742406"/>
          </a:xfrm>
          <a:prstGeom prst="rect">
            <a:avLst/>
          </a:prstGeom>
          <a:solidFill>
            <a:srgbClr val="CF01A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 flipH="1" flipV="1">
            <a:off x="7829007" y="3715115"/>
            <a:ext cx="1942010" cy="926554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423587" y="741826"/>
            <a:ext cx="7969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X1, Y1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0971" y="3300844"/>
            <a:ext cx="7969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X3, Y3</a:t>
            </a:r>
          </a:p>
        </p:txBody>
      </p:sp>
      <p:sp>
        <p:nvSpPr>
          <p:cNvPr id="29" name="Oval 28"/>
          <p:cNvSpPr/>
          <p:nvPr/>
        </p:nvSpPr>
        <p:spPr>
          <a:xfrm>
            <a:off x="7922805" y="1933543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7070695" y="3631402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8769431" y="4484650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7916353" y="2771953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Oval 35"/>
          <p:cNvSpPr/>
          <p:nvPr/>
        </p:nvSpPr>
        <p:spPr>
          <a:xfrm>
            <a:off x="8786948" y="2777092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8790403" y="3611716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7939780" y="3633849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/>
          <p:cNvSpPr/>
          <p:nvPr/>
        </p:nvSpPr>
        <p:spPr>
          <a:xfrm>
            <a:off x="9291693" y="2776150"/>
            <a:ext cx="87086" cy="87086"/>
          </a:xfrm>
          <a:prstGeom prst="ellipse">
            <a:avLst/>
          </a:prstGeom>
          <a:solidFill>
            <a:srgbClr val="66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/>
          <p:cNvSpPr txBox="1"/>
          <p:nvPr/>
        </p:nvSpPr>
        <p:spPr>
          <a:xfrm>
            <a:off x="9252738" y="4184148"/>
            <a:ext cx="7969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X2, Y2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80454" y="2441487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ectangle 59"/>
          <p:cNvSpPr/>
          <p:nvPr/>
        </p:nvSpPr>
        <p:spPr>
          <a:xfrm>
            <a:off x="7574766" y="745094"/>
            <a:ext cx="766354" cy="74240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/>
          <p:cNvSpPr/>
          <p:nvPr/>
        </p:nvSpPr>
        <p:spPr>
          <a:xfrm>
            <a:off x="7920833" y="1084479"/>
            <a:ext cx="87086" cy="87086"/>
          </a:xfrm>
          <a:prstGeom prst="ellips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/>
          <p:cNvSpPr/>
          <p:nvPr/>
        </p:nvSpPr>
        <p:spPr>
          <a:xfrm>
            <a:off x="8775398" y="1933543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" name="Straight Connector 22"/>
          <p:cNvCxnSpPr>
            <a:stCxn id="28" idx="0"/>
          </p:cNvCxnSpPr>
          <p:nvPr/>
        </p:nvCxnSpPr>
        <p:spPr>
          <a:xfrm>
            <a:off x="8819617" y="870904"/>
            <a:ext cx="951400" cy="3770765"/>
          </a:xfrm>
          <a:prstGeom prst="line">
            <a:avLst/>
          </a:prstGeom>
          <a:ln w="28575">
            <a:solidFill>
              <a:srgbClr val="0000FF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Oval 63"/>
          <p:cNvSpPr/>
          <p:nvPr/>
        </p:nvSpPr>
        <p:spPr>
          <a:xfrm>
            <a:off x="9620088" y="2776150"/>
            <a:ext cx="87086" cy="87086"/>
          </a:xfrm>
          <a:prstGeom prst="ellipse">
            <a:avLst/>
          </a:prstGeom>
          <a:solidFill>
            <a:srgbClr val="00B05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9490189" y="3646886"/>
            <a:ext cx="87086" cy="87086"/>
          </a:xfrm>
          <a:prstGeom prst="ellipse">
            <a:avLst/>
          </a:prstGeom>
          <a:solidFill>
            <a:srgbClr val="66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9023965" y="1784826"/>
            <a:ext cx="87086" cy="87086"/>
          </a:xfrm>
          <a:prstGeom prst="ellipse">
            <a:avLst/>
          </a:prstGeom>
          <a:solidFill>
            <a:srgbClr val="66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/>
          <p:cNvSpPr/>
          <p:nvPr/>
        </p:nvSpPr>
        <p:spPr>
          <a:xfrm>
            <a:off x="9727384" y="4584670"/>
            <a:ext cx="87086" cy="87086"/>
          </a:xfrm>
          <a:prstGeom prst="ellipse">
            <a:avLst/>
          </a:prstGeom>
          <a:solidFill>
            <a:srgbClr val="66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Oval 66"/>
          <p:cNvSpPr/>
          <p:nvPr/>
        </p:nvSpPr>
        <p:spPr>
          <a:xfrm>
            <a:off x="8769360" y="1066924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Connector 23"/>
          <p:cNvCxnSpPr>
            <a:stCxn id="28" idx="0"/>
          </p:cNvCxnSpPr>
          <p:nvPr/>
        </p:nvCxnSpPr>
        <p:spPr>
          <a:xfrm flipH="1">
            <a:off x="7822657" y="870904"/>
            <a:ext cx="996960" cy="2844211"/>
          </a:xfrm>
          <a:prstGeom prst="line">
            <a:avLst/>
          </a:prstGeom>
          <a:ln w="28575">
            <a:solidFill>
              <a:schemeClr val="tx1"/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8776074" y="870904"/>
            <a:ext cx="87086" cy="87086"/>
          </a:xfrm>
          <a:prstGeom prst="ellipse">
            <a:avLst/>
          </a:prstGeom>
          <a:solidFill>
            <a:srgbClr val="66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8" name="Oval 67"/>
          <p:cNvSpPr/>
          <p:nvPr/>
        </p:nvSpPr>
        <p:spPr>
          <a:xfrm>
            <a:off x="9275904" y="2776150"/>
            <a:ext cx="87086" cy="87086"/>
          </a:xfrm>
          <a:prstGeom prst="ellipse">
            <a:avLst/>
          </a:prstGeom>
          <a:solidFill>
            <a:srgbClr val="66FFF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Oval 91"/>
          <p:cNvSpPr/>
          <p:nvPr/>
        </p:nvSpPr>
        <p:spPr>
          <a:xfrm>
            <a:off x="9626315" y="4482541"/>
            <a:ext cx="87086" cy="87086"/>
          </a:xfrm>
          <a:prstGeom prst="ellipse">
            <a:avLst/>
          </a:prstGeom>
          <a:solidFill>
            <a:srgbClr val="00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 Placeholder 3"/>
          <p:cNvSpPr txBox="1">
            <a:spLocks/>
          </p:cNvSpPr>
          <p:nvPr/>
        </p:nvSpPr>
        <p:spPr>
          <a:xfrm>
            <a:off x="1484312" y="2068825"/>
            <a:ext cx="4359293" cy="37223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/>
          </a:bodyPr>
          <a:lstStyle>
            <a:lvl1pPr marL="0" indent="0" algn="ctr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10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1">
                  <a:lumMod val="75000"/>
                </a:schemeClr>
              </a:buClr>
              <a:buSzPct val="145000"/>
              <a:buFont typeface="Arial"/>
              <a:buNone/>
              <a:defRPr sz="9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Step 1: Sort the VERTS in </a:t>
            </a:r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 Ascending</a:t>
            </a:r>
            <a:r>
              <a:rPr lang="en-US" dirty="0">
                <a:solidFill>
                  <a:srgbClr val="C00000"/>
                </a:solidFill>
              </a:rPr>
              <a:t>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Step 2: Determine the </a:t>
            </a:r>
            <a:r>
              <a:rPr lang="en-US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“Direction of Fill” </a:t>
            </a:r>
            <a:r>
              <a:rPr lang="en-US" dirty="0"/>
              <a:t>by comparing the </a:t>
            </a:r>
            <a:r>
              <a:rPr lang="en-US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Middle</a:t>
            </a:r>
            <a:r>
              <a:rPr lang="en-US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/>
              <a:t>vertex to the </a:t>
            </a:r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opposite line</a:t>
            </a:r>
            <a:r>
              <a:rPr lang="en-US" dirty="0"/>
              <a:t>. (Use the Implicit Line Equation)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Step 3: Use the </a:t>
            </a:r>
            <a:r>
              <a:rPr lang="en-US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Parametric Line Equation</a:t>
            </a:r>
            <a:r>
              <a:rPr lang="en-US" dirty="0"/>
              <a:t> to find the closest staring pixel for each row on the tallest line. (Top to Bottom) 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Step 4: Determine if the </a:t>
            </a:r>
            <a:r>
              <a:rPr lang="en-US" dirty="0">
                <a:solidFill>
                  <a:srgbClr val="00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Pixel’s center </a:t>
            </a:r>
            <a:r>
              <a:rPr lang="en-US" dirty="0"/>
              <a:t>is within the Barycentric space of the triangle. If it is you should Draw that pixel.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dirty="0"/>
              <a:t>Step 5: Continue drawing pixels on that row until you </a:t>
            </a:r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leave</a:t>
            </a:r>
            <a:r>
              <a:rPr lang="en-US" dirty="0"/>
              <a:t> Barycentric space. (</a:t>
            </a:r>
            <a:r>
              <a:rPr lang="en-US" dirty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Ignore</a:t>
            </a:r>
            <a:r>
              <a:rPr lang="en-US" dirty="0"/>
              <a:t> any pixels below the </a:t>
            </a:r>
            <a:r>
              <a:rPr lang="en-US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parametric line</a:t>
            </a:r>
            <a:r>
              <a:rPr lang="en-US" dirty="0"/>
              <a:t>)</a:t>
            </a:r>
          </a:p>
        </p:txBody>
      </p:sp>
      <p:sp>
        <p:nvSpPr>
          <p:cNvPr id="106" name="Left Arrow 105"/>
          <p:cNvSpPr/>
          <p:nvPr/>
        </p:nvSpPr>
        <p:spPr>
          <a:xfrm>
            <a:off x="6446714" y="4947783"/>
            <a:ext cx="3823063" cy="820050"/>
          </a:xfrm>
          <a:prstGeom prst="leftArrow">
            <a:avLst>
              <a:gd name="adj1" fmla="val 50000"/>
              <a:gd name="adj2" fmla="val 73363"/>
            </a:avLst>
          </a:prstGeom>
          <a:solidFill>
            <a:srgbClr val="7030A0"/>
          </a:solidFill>
          <a:ln>
            <a:solidFill>
              <a:srgbClr val="CF01A8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Direction Of Fill</a:t>
            </a:r>
          </a:p>
        </p:txBody>
      </p:sp>
      <p:sp>
        <p:nvSpPr>
          <p:cNvPr id="107" name="Right Arrow 106"/>
          <p:cNvSpPr/>
          <p:nvPr/>
        </p:nvSpPr>
        <p:spPr>
          <a:xfrm rot="20145715" flipH="1">
            <a:off x="9125849" y="361452"/>
            <a:ext cx="797567" cy="538918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Top</a:t>
            </a:r>
          </a:p>
        </p:txBody>
      </p:sp>
      <p:sp>
        <p:nvSpPr>
          <p:cNvPr id="108" name="Right Arrow 107"/>
          <p:cNvSpPr/>
          <p:nvPr/>
        </p:nvSpPr>
        <p:spPr>
          <a:xfrm rot="20145715" flipH="1">
            <a:off x="10116614" y="3990631"/>
            <a:ext cx="1194509" cy="538918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Bottom</a:t>
            </a:r>
          </a:p>
        </p:txBody>
      </p:sp>
      <p:sp>
        <p:nvSpPr>
          <p:cNvPr id="109" name="Right Arrow 108"/>
          <p:cNvSpPr/>
          <p:nvPr/>
        </p:nvSpPr>
        <p:spPr>
          <a:xfrm rot="20116037">
            <a:off x="6523083" y="3764092"/>
            <a:ext cx="1203044" cy="538918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Middle</a:t>
            </a:r>
          </a:p>
        </p:txBody>
      </p:sp>
    </p:spTree>
    <p:extLst>
      <p:ext uri="{BB962C8B-B14F-4D97-AF65-F5344CB8AC3E}">
        <p14:creationId xmlns:p14="http://schemas.microsoft.com/office/powerpoint/2010/main" val="9544919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Barycentric Interpolation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Surprise! Barycentric coordinates are ALREADY ratios that add up to 1</a:t>
            </a:r>
          </a:p>
          <a:p>
            <a:r>
              <a:rPr lang="en-US" dirty="0"/>
              <a:t>Linear Interpolation: X = ( B – A ) * R + A</a:t>
            </a:r>
          </a:p>
          <a:p>
            <a:r>
              <a:rPr lang="en-US" dirty="0"/>
              <a:t>Linear written another way: X = ( B * R ) + A * ( 1 – R ) </a:t>
            </a:r>
          </a:p>
          <a:p>
            <a:r>
              <a:rPr lang="en-US" dirty="0"/>
              <a:t>1.0 = </a:t>
            </a:r>
            <a:r>
              <a:rPr lang="el-GR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β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</a:rPr>
              <a:t>+ </a:t>
            </a:r>
            <a:r>
              <a:rPr lang="el-GR" dirty="0">
                <a:solidFill>
                  <a:srgbClr val="CF01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γ</a:t>
            </a:r>
            <a:r>
              <a:rPr lang="en-US" dirty="0">
                <a:solidFill>
                  <a:srgbClr val="CF01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</a:rPr>
              <a:t>+</a:t>
            </a:r>
            <a:r>
              <a:rPr lang="en-US" dirty="0">
                <a:solidFill>
                  <a:srgbClr val="CF01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el-GR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α</a:t>
            </a:r>
            <a:r>
              <a:rPr lang="en-US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</a:t>
            </a:r>
            <a:r>
              <a:rPr lang="en-US" dirty="0"/>
              <a:t>So…</a:t>
            </a:r>
          </a:p>
          <a:p>
            <a:r>
              <a:rPr lang="en-US" dirty="0"/>
              <a:t>Barycentric Interpolation: X = A * </a:t>
            </a:r>
            <a:r>
              <a:rPr lang="el-GR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α</a:t>
            </a:r>
            <a:r>
              <a:rPr lang="en-US" dirty="0">
                <a:solidFill>
                  <a:srgbClr val="66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dirty="0">
                <a:latin typeface="Arial" panose="020B0604020202020204" pitchFamily="34" charset="0"/>
              </a:rPr>
              <a:t>+ B * </a:t>
            </a:r>
            <a:r>
              <a:rPr lang="el-GR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β</a:t>
            </a:r>
            <a:r>
              <a:rPr lang="en-US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</a:rPr>
              <a:t>+ C * </a:t>
            </a:r>
            <a:r>
              <a:rPr lang="el-GR" dirty="0">
                <a:solidFill>
                  <a:srgbClr val="CF01A8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γ</a:t>
            </a:r>
            <a:r>
              <a:rPr lang="en-US" dirty="0">
                <a:solidFill>
                  <a:srgbClr val="CF01A8"/>
                </a:solidFill>
                <a:latin typeface="Arial" panose="020B0604020202020204" pitchFamily="34" charset="0"/>
              </a:rPr>
              <a:t> </a:t>
            </a:r>
          </a:p>
          <a:p>
            <a:r>
              <a:rPr lang="en-US" dirty="0">
                <a:latin typeface="Arial" panose="020B0604020202020204" pitchFamily="34" charset="0"/>
              </a:rPr>
              <a:t>Well that was easy! =)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03567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BC1C1C"/>
      </a:accent1>
      <a:accent2>
        <a:srgbClr val="F67534"/>
      </a:accent2>
      <a:accent3>
        <a:srgbClr val="EAAC35"/>
      </a:accent3>
      <a:accent4>
        <a:srgbClr val="9BAF68"/>
      </a:accent4>
      <a:accent5>
        <a:srgbClr val="68B9A6"/>
      </a:accent5>
      <a:accent6>
        <a:srgbClr val="50B1D4"/>
      </a:accent6>
      <a:hlink>
        <a:srgbClr val="E46416"/>
      </a:hlink>
      <a:folHlink>
        <a:srgbClr val="EE9340"/>
      </a:folHlink>
    </a:clrScheme>
    <a:fontScheme name="Times New Roman-Arial">
      <a:maj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93B4CCAC-FD5A-4D59-B1AC-EAF45910B5A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TC103457496[[fn=Parallax]]</Template>
  <TotalTime>4091</TotalTime>
  <Words>919</Words>
  <Application>Microsoft Macintosh PowerPoint</Application>
  <PresentationFormat>Widescreen</PresentationFormat>
  <Paragraphs>153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Times New Roman</vt:lpstr>
      <vt:lpstr>Parallax</vt:lpstr>
      <vt:lpstr>Computer Graphics</vt:lpstr>
      <vt:lpstr>Drawing Filled Triangles</vt:lpstr>
      <vt:lpstr>Triangle Rasterization</vt:lpstr>
      <vt:lpstr>Review: Triangle Basics</vt:lpstr>
      <vt:lpstr>Barycentric Coordinates</vt:lpstr>
      <vt:lpstr>Barycentric Coordinates == 3 Gradient Ratios</vt:lpstr>
      <vt:lpstr>Finding the Barycentric Coordinates of a point relative to a triangle</vt:lpstr>
      <vt:lpstr>Triangle Drawing Algorithms</vt:lpstr>
      <vt:lpstr>Brute Triangle</vt:lpstr>
      <vt:lpstr>Better Brute Triangle</vt:lpstr>
      <vt:lpstr>Lari’s Parametric Triangle</vt:lpstr>
      <vt:lpstr>Barycentric Interpolation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Graphics I</dc:title>
  <dc:creator>Microsoft account</dc:creator>
  <cp:lastModifiedBy>Setz, Travis</cp:lastModifiedBy>
  <cp:revision>320</cp:revision>
  <dcterms:created xsi:type="dcterms:W3CDTF">2014-10-08T17:14:56Z</dcterms:created>
  <dcterms:modified xsi:type="dcterms:W3CDTF">2024-01-07T21:18:43Z</dcterms:modified>
</cp:coreProperties>
</file>